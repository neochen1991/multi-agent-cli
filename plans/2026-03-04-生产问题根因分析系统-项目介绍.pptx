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生产问题根因分析系统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286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FECFC"/>
                </a:solidFill>
              </a:defRPr>
            </a:pPr>
            <a:r>
              <a:t>LangGraph Multi-Agent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42B4C"/>
                </a:solidFill>
              </a:defRPr>
            </a:pPr>
            <a:r>
              <a:t>项目介绍</a:t>
            </a:r>
          </a:p>
          <a:p>
            <a:pPr>
              <a:defRPr sz="3600" b="0">
                <a:solidFill>
                  <a:srgbClr val="142B4C"/>
                </a:solidFill>
              </a:defRPr>
            </a:pPr>
            <a:r>
              <a:t>面向生产故障的多 Agent 协同分析平台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3464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B2B2B"/>
                </a:solidFill>
              </a:defRPr>
            </a:pPr>
            <a:r>
              <a:t>技术栈：FastAPI + LangGraph + React 18 + Ant Design</a:t>
            </a:r>
          </a:p>
          <a:p>
            <a:pPr>
              <a:defRPr sz="2000" b="0">
                <a:solidFill>
                  <a:srgbClr val="2B2B2B"/>
                </a:solidFill>
              </a:defRPr>
            </a:pPr>
            <a:r>
              <a:t>核心能力：主 Agent 指挥 + 专家 Agent 协作 + 工具调用审计 + 结构化报告</a:t>
            </a:r>
          </a:p>
          <a:p>
            <a:pPr>
              <a:defRPr sz="2000" b="0">
                <a:solidFill>
                  <a:srgbClr val="2B2B2B"/>
                </a:solidFill>
              </a:defRPr>
            </a:pPr>
            <a:r>
              <a:t>当前模型：kimi-k2.5（OpenAI 兼容接口）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035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A6473"/>
                </a:solidFill>
              </a:defRPr>
            </a:pPr>
            <a:r>
              <a:t>生成时间：2026-03-04 14:14:15（Asia/Shanghai）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项目定位与目标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286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FECFC"/>
                </a:solidFill>
              </a:defRPr>
            </a:pPr>
            <a:r>
              <a:t>Why this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576072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5166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B2B2B"/>
                </a:solidFill>
              </a:defRPr>
            </a:pPr>
            <a:r>
              <a:t>系统定位</a:t>
            </a:r>
          </a:p>
          <a:p>
            <a:pPr>
              <a:defRPr sz="1900" b="0">
                <a:solidFill>
                  <a:srgbClr val="2B2B2B"/>
                </a:solidFill>
              </a:defRPr>
            </a:pPr>
            <a:r>
              <a:t>从“人工排障”升级到“智能调查 + 证据化结论”。</a:t>
            </a:r>
          </a:p>
          <a:p>
            <a:pPr>
              <a:defRPr sz="1900" b="0">
                <a:solidFill>
                  <a:srgbClr val="2B2B2B"/>
                </a:solidFill>
              </a:defRPr>
            </a:pPr>
            <a:r>
              <a:t>统一处理日志、代码、领域资产、监控现象，面向生产故障快速定位根因。</a:t>
            </a:r>
          </a:p>
          <a:p>
            <a:pPr>
              <a:defRPr sz="1900" b="0">
                <a:solidFill>
                  <a:srgbClr val="2B2B2B"/>
                </a:solidFill>
              </a:defRPr>
            </a:pPr>
          </a:p>
          <a:p>
            <a:pPr>
              <a:defRPr sz="1900" b="0">
                <a:solidFill>
                  <a:srgbClr val="2B2B2B"/>
                </a:solidFill>
              </a:defRPr>
            </a:pPr>
            <a:r>
              <a:t>业务价值</a:t>
            </a:r>
          </a:p>
          <a:p>
            <a:pPr>
              <a:defRPr sz="1900" b="0">
                <a:solidFill>
                  <a:srgbClr val="2B2B2B"/>
                </a:solidFill>
              </a:defRPr>
            </a:pPr>
            <a:r>
              <a:t>缩短故障定位时间（MTTR）</a:t>
            </a:r>
          </a:p>
          <a:p>
            <a:pPr>
              <a:defRPr sz="1900" b="0">
                <a:solidFill>
                  <a:srgbClr val="2B2B2B"/>
                </a:solidFill>
              </a:defRPr>
            </a:pPr>
            <a:r>
              <a:t>提升跨团队协作效率</a:t>
            </a:r>
          </a:p>
          <a:p>
            <a:pPr>
              <a:defRPr sz="1900" b="0">
                <a:solidFill>
                  <a:srgbClr val="2B2B2B"/>
                </a:solidFill>
              </a:defRPr>
            </a:pPr>
            <a:r>
              <a:t>保留可复盘的决策链路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143000"/>
            <a:ext cx="539496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B2B2B"/>
                </a:solidFill>
              </a:defRPr>
            </a:pPr>
            <a:r>
              <a:t>当前目标</a:t>
            </a:r>
          </a:p>
          <a:p>
            <a:pPr>
              <a:defRPr sz="1800" b="0">
                <a:solidFill>
                  <a:srgbClr val="2B2B2B"/>
                </a:solidFill>
              </a:defRPr>
            </a:pPr>
            <a:r>
              <a:t>1. 主 Agent 统一调度专家 Agent</a:t>
            </a:r>
          </a:p>
          <a:p>
            <a:pPr>
              <a:defRPr sz="1800" b="0">
                <a:solidFill>
                  <a:srgbClr val="2B2B2B"/>
                </a:solidFill>
              </a:defRPr>
            </a:pPr>
            <a:r>
              <a:t>2. 工具调用必须可审计、可回放</a:t>
            </a:r>
          </a:p>
          <a:p>
            <a:pPr>
              <a:defRPr sz="1800" b="0">
                <a:solidFill>
                  <a:srgbClr val="2B2B2B"/>
                </a:solidFill>
              </a:defRPr>
            </a:pPr>
            <a:r>
              <a:t>3. 前端实时展示分析过程与证据链</a:t>
            </a:r>
          </a:p>
          <a:p>
            <a:pPr>
              <a:defRPr sz="1800" b="0">
                <a:solidFill>
                  <a:srgbClr val="2B2B2B"/>
                </a:solidFill>
              </a:defRPr>
            </a:pPr>
            <a:r>
              <a:t>4. 输出 Top-K 根因候选 + 修复建议</a:t>
            </a:r>
          </a:p>
          <a:p>
            <a:pPr>
              <a:defRPr sz="1800" b="0">
                <a:solidFill>
                  <a:srgbClr val="2B2B2B"/>
                </a:solidFill>
              </a:defRPr>
            </a:pPr>
          </a:p>
          <a:p>
            <a:pPr>
              <a:defRPr sz="1800" b="0">
                <a:solidFill>
                  <a:srgbClr val="2B2B2B"/>
                </a:solidFill>
              </a:defRPr>
            </a:pPr>
            <a:r>
              <a:t>约束</a:t>
            </a:r>
          </a:p>
          <a:p>
            <a:pPr>
              <a:defRPr sz="1800" b="0">
                <a:solidFill>
                  <a:srgbClr val="2B2B2B"/>
                </a:solidFill>
              </a:defRPr>
            </a:pPr>
            <a:r>
              <a:t>暂不依赖外部数据库，使用本地文件/内存存储。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系统总体架构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286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FECFC"/>
                </a:solidFill>
              </a:defRPr>
            </a:pPr>
            <a:r>
              <a:t>Frontend / Backend / Runtime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103120"/>
            <a:ext cx="1371600" cy="914400"/>
          </a:xfrm>
          <a:prstGeom prst="roundRect">
            <a:avLst/>
          </a:prstGeom>
          <a:solidFill>
            <a:srgbClr val="FFFAE8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4C"/>
                </a:solidFill>
              </a:defRPr>
            </a:pPr>
            <a:r>
              <a:t>用户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828800"/>
            <a:ext cx="2103120" cy="1554480"/>
          </a:xfrm>
          <a:prstGeom prst="roundRect">
            <a:avLst/>
          </a:prstGeom>
          <a:solidFill>
            <a:srgbClr val="EBF6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4C"/>
                </a:solidFill>
              </a:defRPr>
            </a:pPr>
            <a:r>
              <a:t>前端</a:t>
            </a:r>
            <a:br/>
            <a:r>
              <a:t>React + AntD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828800"/>
            <a:ext cx="1737360" cy="1554480"/>
          </a:xfrm>
          <a:prstGeom prst="roundRect">
            <a:avLst/>
          </a:prstGeom>
          <a:solidFill>
            <a:srgbClr val="E5F0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4C"/>
                </a:solidFill>
              </a:defRPr>
            </a:pPr>
            <a:r>
              <a:t>后端 API</a:t>
            </a:r>
            <a:br/>
            <a:r>
              <a:t>FastAPI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828800"/>
            <a:ext cx="2423160" cy="1554480"/>
          </a:xfrm>
          <a:prstGeom prst="roundRect">
            <a:avLst/>
          </a:prstGeom>
          <a:solidFill>
            <a:srgbClr val="E3EE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4C"/>
                </a:solidFill>
              </a:defRPr>
            </a:pPr>
            <a:r>
              <a:t>LangGraph Runtime</a:t>
            </a:r>
            <a:br/>
            <a:r>
              <a:t>Orchestrator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20" y="1463040"/>
            <a:ext cx="2651760" cy="1280160"/>
          </a:xfrm>
          <a:prstGeom prst="roundRect">
            <a:avLst/>
          </a:prstGeom>
          <a:solidFill>
            <a:srgbClr val="E5F6F0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4C"/>
                </a:solidFill>
              </a:defRPr>
            </a:pPr>
            <a:r>
              <a:t>专家 Agent 群</a:t>
            </a:r>
            <a:br/>
            <a:r>
              <a:t>(并行+协作)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2971800"/>
            <a:ext cx="2651760" cy="1280160"/>
          </a:xfrm>
          <a:prstGeom prst="roundRect">
            <a:avLst/>
          </a:prstGeom>
          <a:solidFill>
            <a:srgbClr val="EEFCF6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4C"/>
                </a:solidFill>
              </a:defRPr>
            </a:pPr>
            <a:r>
              <a:t>工具层</a:t>
            </a:r>
            <a:br/>
            <a:r>
              <a:t>Git/Log/Excel/Telemetry/CMDB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3886200"/>
            <a:ext cx="2423160" cy="1188720"/>
          </a:xfrm>
          <a:prstGeom prst="roundRect">
            <a:avLst/>
          </a:prstGeom>
          <a:solidFill>
            <a:srgbClr val="F9F4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4C"/>
                </a:solidFill>
              </a:defRPr>
            </a:pPr>
            <a:r>
              <a:t>本地存储</a:t>
            </a:r>
            <a:br/>
            <a:r>
              <a:t>Session/Report/Lineage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4023360"/>
            <a:ext cx="4251960" cy="1051560"/>
          </a:xfrm>
          <a:prstGeom prst="roundRect">
            <a:avLst/>
          </a:prstGeom>
          <a:solidFill>
            <a:srgbClr val="F5FA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4C"/>
                </a:solidFill>
              </a:defRPr>
            </a:pPr>
            <a:r>
              <a:t>WebSocket 事件流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737360" y="2423160"/>
            <a:ext cx="228600" cy="228600"/>
          </a:xfrm>
          <a:prstGeom prst="rightArrow">
            <a:avLst/>
          </a:prstGeom>
          <a:solidFill>
            <a:srgbClr val="106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4160520" y="2423160"/>
            <a:ext cx="228600" cy="228600"/>
          </a:xfrm>
          <a:prstGeom prst="rightArrow">
            <a:avLst/>
          </a:prstGeom>
          <a:solidFill>
            <a:srgbClr val="106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6327648" y="2423160"/>
            <a:ext cx="182880" cy="228600"/>
          </a:xfrm>
          <a:prstGeom prst="rightArrow">
            <a:avLst/>
          </a:prstGeom>
          <a:solidFill>
            <a:srgbClr val="106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8979408" y="2103120"/>
            <a:ext cx="182880" cy="228600"/>
          </a:xfrm>
          <a:prstGeom prst="rightArrow">
            <a:avLst/>
          </a:prstGeom>
          <a:solidFill>
            <a:srgbClr val="106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多 Agent 协同机制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286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FECFC"/>
                </a:solidFill>
              </a:defRPr>
            </a:pPr>
            <a:r>
              <a:t>Commander + Specialist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1247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42B4C"/>
                </a:solidFill>
              </a:defRPr>
            </a:pPr>
            <a:r>
              <a:t>主 Agent（ProblemAnalysisAgent）先做问题拆解，再按命令分发任务；子 Agent 依据命令决定是否调用工具并回传结构化证据。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14600"/>
            <a:ext cx="3566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F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B2B2B"/>
                </a:solidFill>
              </a:defRPr>
            </a:pPr>
            <a:r>
              <a:t>LogAgent：日志模式识别、错误链路与时序聚类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514600"/>
            <a:ext cx="3566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F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B2B2B"/>
                </a:solidFill>
              </a:defRPr>
            </a:pPr>
            <a:r>
              <a:t>DomainAgent：接口/领域/聚合根/责任田映射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514600"/>
            <a:ext cx="3566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F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B2B2B"/>
                </a:solidFill>
              </a:defRPr>
            </a:pPr>
            <a:r>
              <a:t>CodeAgent：代码路径定位、变更影响评估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37560"/>
            <a:ext cx="3566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F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B2B2B"/>
                </a:solidFill>
              </a:defRPr>
            </a:pPr>
            <a:r>
              <a:t>MetricsAgent：资源瓶颈、指标异常关联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337560"/>
            <a:ext cx="3566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F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B2B2B"/>
                </a:solidFill>
              </a:defRPr>
            </a:pPr>
            <a:r>
              <a:t>ChangeAgent：发布变更窗口关联分析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3337560"/>
            <a:ext cx="3566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F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B2B2B"/>
                </a:solidFill>
              </a:defRPr>
            </a:pPr>
            <a:r>
              <a:t>RunbookAgent：案例库检索与处置 SOP 建议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3566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F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B2B2B"/>
                </a:solidFill>
              </a:defRPr>
            </a:pPr>
            <a:r>
              <a:t>CriticAgent：反证审查，指出证据缺口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4160520"/>
            <a:ext cx="3566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F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B2B2B"/>
                </a:solidFill>
              </a:defRPr>
            </a:pPr>
            <a:r>
              <a:t>RebuttalAgent：针对质疑补强证据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4160520"/>
            <a:ext cx="3566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F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B2B2B"/>
                </a:solidFill>
              </a:defRPr>
            </a:pPr>
            <a:r>
              <a:t>JudgeAgent：综合裁决与置信度打分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983480"/>
            <a:ext cx="3566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F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B2B2B"/>
                </a:solidFill>
              </a:defRPr>
            </a:pPr>
            <a:r>
              <a:t>VerificationAgent：验证计划与回归检查项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端到端分析流程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286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FECFC"/>
                </a:solidFill>
              </a:defRPr>
            </a:pPr>
            <a:r>
              <a:t>From Incident to Report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1188720"/>
            <a:ext cx="502920" cy="502920"/>
          </a:xfrm>
          <a:prstGeom prst="ellipse">
            <a:avLst/>
          </a:prstGeom>
          <a:solidFill>
            <a:srgbClr val="106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170432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B2B2B"/>
                </a:solidFill>
              </a:defRPr>
            </a:pPr>
            <a:r>
              <a:t>创建 Incident：输入报错日志、堆栈、现象与监控信息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057400"/>
            <a:ext cx="502920" cy="502920"/>
          </a:xfrm>
          <a:prstGeom prst="ellipse">
            <a:avLst/>
          </a:prstGeom>
          <a:solidFill>
            <a:srgbClr val="106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39112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B2B2B"/>
                </a:solidFill>
              </a:defRPr>
            </a:pPr>
            <a:r>
              <a:t>资产映射：定位接口 -&gt; 领域 -&gt; 聚合根 -&gt; Owner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926080"/>
            <a:ext cx="502920" cy="502920"/>
          </a:xfrm>
          <a:prstGeom prst="ellipse">
            <a:avLst/>
          </a:prstGeom>
          <a:solidFill>
            <a:srgbClr val="106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07792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B2B2B"/>
                </a:solidFill>
              </a:defRPr>
            </a:pPr>
            <a:r>
              <a:t>主 Agent 指挥：拆解问题并向专家 Agent 下发命令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794759"/>
            <a:ext cx="502920" cy="502920"/>
          </a:xfrm>
          <a:prstGeom prst="ellipse">
            <a:avLst/>
          </a:prstGeom>
          <a:solidFill>
            <a:srgbClr val="106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776472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B2B2B"/>
                </a:solidFill>
              </a:defRPr>
            </a:pPr>
            <a:r>
              <a:t>专家协作分析：按需调用工具，回传证据与中间结论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663440"/>
            <a:ext cx="502920" cy="502920"/>
          </a:xfrm>
          <a:prstGeom prst="ellipse">
            <a:avLst/>
          </a:prstGeom>
          <a:solidFill>
            <a:srgbClr val="106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645152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B2B2B"/>
                </a:solidFill>
              </a:defRPr>
            </a:pPr>
            <a:r>
              <a:t>质疑与反驳：Critic/Rebuttal 循环收敛观点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5532120"/>
            <a:ext cx="502920" cy="502920"/>
          </a:xfrm>
          <a:prstGeom prst="ellipse">
            <a:avLst/>
          </a:prstGeom>
          <a:solidFill>
            <a:srgbClr val="106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513832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B2B2B"/>
                </a:solidFill>
              </a:defRPr>
            </a:pPr>
            <a:r>
              <a:t>裁决与报告：Judge + Verification 输出 Top-K 根因与行动项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5. 工具调用与审计机制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286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FECFC"/>
                </a:solidFill>
              </a:defRPr>
            </a:pPr>
            <a:r>
              <a:t>Command-gated Tooling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557784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4983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B2B2B"/>
                </a:solidFill>
              </a:defRPr>
            </a:pPr>
            <a:r>
              <a:t>当前工具能力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CodeAgent：Git 仓库检索（本地/远程）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LogAgent：本地日志文件读取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DomainAgent：Excel/CSV 责任田查询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Metrics/Change：Telemetry/CMDB 连接器入口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调用约束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主 Agent 先发命令后才允许调用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工具配置支持开关控制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未配置工具的 Agent 不展示调用记录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43000"/>
            <a:ext cx="544068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41732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B2B2B"/>
                </a:solidFill>
              </a:defRPr>
            </a:pPr>
            <a:r>
              <a:t>审计数据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每次调用记录 command_gate 决策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记录 I/O 轨迹（文件读取、Git 命令、HTTP 访问）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记录状态、摘要、错误原因、截断引用ID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前端可视化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辩论过程可查看工具调用消息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战情页同屏展示时间线、证据链、工具审计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调查复盘台支持决策回放与报告比对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6. 前端体验与页面结构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286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FECFC"/>
                </a:solidFill>
              </a:defRPr>
            </a:pPr>
            <a:r>
              <a:t>Product Surface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10972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3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B2B2B"/>
                </a:solidFill>
              </a:defRPr>
            </a:pPr>
            <a:r>
              <a:t>首页 /：概览统计、快速创建与启动分析、Agent 角色说明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10972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3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B2B2B"/>
                </a:solidFill>
              </a:defRPr>
            </a:pPr>
            <a:r>
              <a:t>故障分析 /incident：资产映射 / 辩论过程 / 辩论结果 三标签联动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606040"/>
            <a:ext cx="10972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3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B2B2B"/>
                </a:solidFill>
              </a:defRPr>
            </a:pPr>
            <a:r>
              <a:t>战情页 /war-room：实时态势：时间线 + 证据链 + 工具调用 + 结论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337560"/>
            <a:ext cx="10972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3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B2B2B"/>
                </a:solidFill>
              </a:defRPr>
            </a:pPr>
            <a:r>
              <a:t>调查复盘台 /workbench：会话回放、关键决策路径、报告版本对比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069080"/>
            <a:ext cx="10972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3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B2B2B"/>
                </a:solidFill>
              </a:defRPr>
            </a:pPr>
            <a:r>
              <a:t>工具中心 /tools：工具源管理、详情查看、参数试运行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800600"/>
            <a:ext cx="10972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3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B2B2B"/>
                </a:solidFill>
              </a:defRPr>
            </a:pPr>
            <a:r>
              <a:t>治理中心 /governance：超时率、失败率、团队成功率与成本指标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532120"/>
            <a:ext cx="10972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3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B2B2B"/>
                </a:solidFill>
              </a:defRPr>
            </a:pPr>
            <a:r>
              <a:t>评测中心 /benchmark：Top1/超时率/空结论率趋势与回归基线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7. 数据与状态管理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286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FECFC"/>
                </a:solidFill>
              </a:defRPr>
            </a:pPr>
            <a:r>
              <a:t>Local-first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62356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B2B2B"/>
                </a:solidFill>
              </a:defRPr>
            </a:pPr>
            <a:r>
              <a:t>核心状态对象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Incident：故障输入与上下文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DebateSession：执行状态机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DebateRound：每轮 Agent 输出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DebateResult：最终结论、Top-K、证据链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LineageRecord：过程事件与工具审计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存储策略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LOCAL_STORE_BACKEND = file / memory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默认文件持久化，便于复盘与导出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188720"/>
            <a:ext cx="539496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1417320"/>
            <a:ext cx="4800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B2B2B"/>
                </a:solidFill>
              </a:defRPr>
            </a:pPr>
            <a:r>
              <a:t>稳定性机制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DebateStatus 状态迁移校验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LLM 超时与重试策略（按阶段区分）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长会话 compaction + prune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输出截断与引用机制，防止上下文污染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回放能力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lineage replay：关键决策路径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report compare：同 incident 版本对比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8. 对外接口与部署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286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FECFC"/>
                </a:solidFill>
              </a:defRPr>
            </a:pPr>
            <a:r>
              <a:t>API / WS / Startup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70866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B2B2B"/>
                </a:solidFill>
              </a:defRPr>
            </a:pPr>
            <a:r>
              <a:t>核心 API（/api/v1）</a:t>
            </a:r>
          </a:p>
          <a:p>
            <a:pPr>
              <a:defRPr sz="1500" b="0">
                <a:solidFill>
                  <a:srgbClr val="2B2B2B"/>
                </a:solidFill>
              </a:defRPr>
            </a:pPr>
            <a:r>
              <a:t>Incident：创建、列表、详情</a:t>
            </a:r>
          </a:p>
          <a:p>
            <a:pPr>
              <a:defRPr sz="1500" b="0">
                <a:solidFill>
                  <a:srgbClr val="2B2B2B"/>
                </a:solidFill>
              </a:defRPr>
            </a:pPr>
            <a:r>
              <a:t>Debate：创建会话、执行、状态、结果、取消</a:t>
            </a:r>
          </a:p>
          <a:p>
            <a:pPr>
              <a:defRPr sz="1500" b="0">
                <a:solidFill>
                  <a:srgbClr val="2B2B2B"/>
                </a:solidFill>
              </a:defRPr>
            </a:pPr>
            <a:r>
              <a:t>Report：查询、重生成、版本对比</a:t>
            </a:r>
          </a:p>
          <a:p>
            <a:pPr>
              <a:defRPr sz="1500" b="0">
                <a:solidFill>
                  <a:srgbClr val="2B2B2B"/>
                </a:solidFill>
              </a:defRPr>
            </a:pPr>
            <a:r>
              <a:t>Assets：接口与责任田定位、资产融合</a:t>
            </a:r>
          </a:p>
          <a:p>
            <a:pPr>
              <a:defRPr sz="1500" b="0">
                <a:solidFill>
                  <a:srgbClr val="2B2B2B"/>
                </a:solidFill>
              </a:defRPr>
            </a:pPr>
            <a:r>
              <a:t>Settings/Tools：工具配置、审计、试运行</a:t>
            </a:r>
          </a:p>
          <a:p>
            <a:pPr>
              <a:defRPr sz="1500" b="0">
                <a:solidFill>
                  <a:srgbClr val="2B2B2B"/>
                </a:solidFill>
              </a:defRPr>
            </a:pPr>
          </a:p>
          <a:p>
            <a:pPr>
              <a:defRPr sz="1500" b="0">
                <a:solidFill>
                  <a:srgbClr val="2B2B2B"/>
                </a:solidFill>
              </a:defRPr>
            </a:pPr>
            <a:r>
              <a:t>WebSocket</a:t>
            </a:r>
          </a:p>
          <a:p>
            <a:pPr>
              <a:defRPr sz="1500" b="0">
                <a:solidFill>
                  <a:srgbClr val="2B2B2B"/>
                </a:solidFill>
              </a:defRPr>
            </a:pPr>
            <a:r>
              <a:t>ws://host/ws/debates/{session_id}?auto_start=true</a:t>
            </a:r>
          </a:p>
          <a:p>
            <a:pPr>
              <a:defRPr sz="1500" b="0">
                <a:solidFill>
                  <a:srgbClr val="2B2B2B"/>
                </a:solidFill>
              </a:defRPr>
            </a:pPr>
            <a:r>
              <a:t>实时推送 phase/agent_chat/tool_io/session 状态事件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143000"/>
            <a:ext cx="402336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417320"/>
            <a:ext cx="3429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B2B2B"/>
                </a:solidFill>
              </a:defRPr>
            </a:pPr>
            <a:r>
              <a:t>部署与运行</a:t>
            </a:r>
          </a:p>
          <a:p>
            <a:pPr>
              <a:defRPr sz="1500" b="0">
                <a:solidFill>
                  <a:srgbClr val="2B2B2B"/>
                </a:solidFill>
              </a:defRPr>
            </a:pPr>
            <a:r>
              <a:t>后端：FastAPI + Uvicorn</a:t>
            </a:r>
          </a:p>
          <a:p>
            <a:pPr>
              <a:defRPr sz="1500" b="0">
                <a:solidFill>
                  <a:srgbClr val="2B2B2B"/>
                </a:solidFill>
              </a:defRPr>
            </a:pPr>
            <a:r>
              <a:t>前端：Vite Dev Server</a:t>
            </a:r>
          </a:p>
          <a:p>
            <a:pPr>
              <a:defRPr sz="1500" b="0">
                <a:solidFill>
                  <a:srgbClr val="2B2B2B"/>
                </a:solidFill>
              </a:defRPr>
            </a:pPr>
            <a:r>
              <a:t>一键启动：npm run start:all</a:t>
            </a:r>
          </a:p>
          <a:p>
            <a:pPr>
              <a:defRPr sz="1500" b="0">
                <a:solidFill>
                  <a:srgbClr val="2B2B2B"/>
                </a:solidFill>
              </a:defRPr>
            </a:pPr>
            <a:r>
              <a:t>一键停止：npm run stop:all</a:t>
            </a:r>
          </a:p>
          <a:p>
            <a:pPr>
              <a:defRPr sz="1500" b="0">
                <a:solidFill>
                  <a:srgbClr val="2B2B2B"/>
                </a:solidFill>
              </a:defRPr>
            </a:pPr>
          </a:p>
          <a:p>
            <a:pPr>
              <a:defRPr sz="1500" b="0">
                <a:solidFill>
                  <a:srgbClr val="2B2B2B"/>
                </a:solidFill>
              </a:defRPr>
            </a:pPr>
            <a:r>
              <a:t>关键配置</a:t>
            </a:r>
          </a:p>
          <a:p>
            <a:pPr>
              <a:defRPr sz="1500" b="0">
                <a:solidFill>
                  <a:srgbClr val="2B2B2B"/>
                </a:solidFill>
              </a:defRPr>
            </a:pPr>
            <a:r>
              <a:t>LLM_BASE_URL</a:t>
            </a:r>
          </a:p>
          <a:p>
            <a:pPr>
              <a:defRPr sz="1500" b="0">
                <a:solidFill>
                  <a:srgbClr val="2B2B2B"/>
                </a:solidFill>
              </a:defRPr>
            </a:pPr>
            <a:r>
              <a:t>LLM_API_KEY</a:t>
            </a:r>
          </a:p>
          <a:p>
            <a:pPr>
              <a:defRPr sz="1500" b="0">
                <a:solidFill>
                  <a:srgbClr val="2B2B2B"/>
                </a:solidFill>
              </a:defRPr>
            </a:pPr>
            <a:r>
              <a:t>LLM_MODEL=kimi-k2.5</a:t>
            </a:r>
          </a:p>
          <a:p>
            <a:pPr>
              <a:defRPr sz="1500" b="0">
                <a:solidFill>
                  <a:srgbClr val="2B2B2B"/>
                </a:solidFill>
              </a:defRPr>
            </a:pPr>
            <a:r>
              <a:t>DEBATE_MAX_ROUNDS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9. 质量保障与运营指标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286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FECFC"/>
                </a:solidFill>
              </a:defRPr>
            </a:pPr>
            <a:r>
              <a:t>Benchmark +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557784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4983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B2B2B"/>
                </a:solidFill>
              </a:defRPr>
            </a:pPr>
            <a:r>
              <a:t>Benchmark Center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Top1 命中率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平均重叠分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超时率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空结论率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支持手工运行与基线文件追踪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可接入 CI 作为 Benchmark 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43000"/>
            <a:ext cx="544068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41732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B2B2B"/>
                </a:solidFill>
              </a:defRPr>
            </a:pPr>
            <a:r>
              <a:t>Governance Center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团队级分析成功率与失败率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Agent 调用耗时与超时分布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工具调用成功率与错误类型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会话可追踪审计链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目标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避免长期 pending</a:t>
            </a:r>
          </a:p>
          <a:p>
            <a:pPr>
              <a:defRPr sz="1600" b="0">
                <a:solidFill>
                  <a:srgbClr val="2B2B2B"/>
                </a:solidFill>
              </a:defRPr>
            </a:pPr>
            <a:r>
              <a:t>降低无结论场景占比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10. 后续演进路线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286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FECFC"/>
                </a:solidFill>
              </a:defRPr>
            </a:pPr>
            <a:r>
              <a:t>Near-term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42B4C"/>
                </a:solidFill>
              </a:defRPr>
            </a:pPr>
            <a:r>
              <a:t>基于当前代码与计划文档，下一阶段优先级如下：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899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B2B2B"/>
                </a:solidFill>
              </a:defRPr>
            </a:pPr>
            <a:r>
              <a:t>P0 可用性：自动调查入口、超时切换、局部重试、避免 pending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107899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B2B2B"/>
                </a:solidFill>
              </a:defRPr>
            </a:pPr>
            <a:r>
              <a:t>P1 准确率：跨源证据约束、依赖拓扑推理、Top-K 置信区间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79"/>
            <a:ext cx="107899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B2B2B"/>
                </a:solidFill>
              </a:defRPr>
            </a:pPr>
            <a:r>
              <a:t>P2 可控修复：修复状态机、No-Regression Gate、自动回滚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59"/>
            <a:ext cx="107899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B2B2B"/>
                </a:solidFill>
              </a:defRPr>
            </a:pPr>
            <a:r>
              <a:t>P3 平台治理：A/B 策略、RBAC、多租户隔离、成本预算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11. 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286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FECFC"/>
                </a:solidFill>
              </a:defRPr>
            </a:pPr>
            <a:r>
              <a:t>What is delivered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42B4C"/>
                </a:solidFill>
              </a:defRPr>
            </a:pPr>
            <a:r>
              <a:t>当前系统已具备生产问题分析闭环：</a:t>
            </a:r>
          </a:p>
          <a:p>
            <a:pPr>
              <a:defRPr sz="2000" b="0">
                <a:solidFill>
                  <a:srgbClr val="142B4C"/>
                </a:solidFill>
              </a:defRPr>
            </a:pPr>
            <a:r>
              <a:t>1) 主 Agent + 专家 Agent 协同分析</a:t>
            </a:r>
          </a:p>
          <a:p>
            <a:pPr>
              <a:defRPr sz="2000" b="0">
                <a:solidFill>
                  <a:srgbClr val="142B4C"/>
                </a:solidFill>
              </a:defRPr>
            </a:pPr>
            <a:r>
              <a:t>2) 命令驱动工具调用与全链路审计</a:t>
            </a:r>
          </a:p>
          <a:p>
            <a:pPr>
              <a:defRPr sz="2000" b="0">
                <a:solidFill>
                  <a:srgbClr val="142B4C"/>
                </a:solidFill>
              </a:defRPr>
            </a:pPr>
            <a:r>
              <a:t>3) 前端可视化展示资产映射、辩论过程、辩论结果</a:t>
            </a:r>
          </a:p>
          <a:p>
            <a:pPr>
              <a:defRPr sz="2000" b="0">
                <a:solidFill>
                  <a:srgbClr val="142B4C"/>
                </a:solidFill>
              </a:defRPr>
            </a:pPr>
            <a:r>
              <a:t>4) 支持报告、回放、评测、治理等平台能力</a:t>
            </a:r>
          </a:p>
          <a:p>
            <a:pPr>
              <a:defRPr sz="2000" b="0">
                <a:solidFill>
                  <a:srgbClr val="142B4C"/>
                </a:solidFill>
              </a:defRPr>
            </a:pPr>
          </a:p>
          <a:p>
            <a:pPr>
              <a:defRPr sz="2000" b="0">
                <a:solidFill>
                  <a:srgbClr val="142B4C"/>
                </a:solidFill>
              </a:defRPr>
            </a:pPr>
            <a:r>
              <a:t>面向下一阶段，将继续提升：可靠性、准确率、自治修复能力。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F6978"/>
                </a:solidFill>
              </a:defRPr>
            </a:pPr>
            <a:r>
              <a:t>附：源代码与设计文档均已按当前实现更新，可直接用于内部汇报。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