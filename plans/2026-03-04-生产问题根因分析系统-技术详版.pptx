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00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生产问题根因分析系统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5097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CDDF8"/>
                </a:solidFill>
              </a:defRPr>
            </a:pPr>
            <a:r>
              <a:t>技术详版（Technical Deep Dive）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5440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959AD"/>
                </a:solidFill>
              </a:defRPr>
            </a:pPr>
            <a:r>
              <a:t>汇报重点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系统能力全景与业务价值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关键架构与端到端流程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多 Agent 协作与工具审计机制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结果质量与治理闭环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下一阶段改进路线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65960"/>
            <a:ext cx="5074920" cy="36118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959AD"/>
                </a:solidFill>
              </a:defRPr>
            </a:pPr>
            <a:r>
              <a:t>技术基线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974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FastAPI + LangGraph + React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LLM: kimi-k2.5（OpenAI兼容）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local file/memory 存储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WebSocket 实时事件流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Benchmark + Governance 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0807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2026-03-04 14:54:29（Asia/Shanghai）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44475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1. 目标与价值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03704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4140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2. 系统总体架构图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72968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3832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3. LangGraph 运行时架构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42232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35254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4. 多 Agent 协作网络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11496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3218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5. 工具调用与审计链路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234440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44475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6. 端到端流程图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203704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4140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7. 状态机与数据模型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172968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3832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8. 前端体验与页面结构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142232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35254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9. 质量保障与治理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5111496"/>
            <a:ext cx="48920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532180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</a:defRPr>
            </a:pPr>
            <a:r>
              <a:t>10. 路线图与计划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1) 目标与业务价值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3611880" cy="544068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03939"/>
                </a:solidFill>
              </a:defRPr>
            </a:pPr>
            <a:r>
              <a:t>典型痛点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288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故障证据分散，排查链路断裂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跨团队沟通成本高，责任难界定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单次结论可解释性不足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缺少可回放的过程记录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高峰期存在 pending 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097280"/>
            <a:ext cx="71780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37160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959AD"/>
                </a:solidFill>
              </a:defRPr>
            </a:pPr>
            <a:r>
              <a:t>平台目标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783080"/>
            <a:ext cx="6583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主 Agent 指挥多专家 Agent 协作，实现结构化根因分析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统一打通日志、代码、资产、指标证据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结果可复核：Top-K 根因、证据链、置信度、验证计划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3886200"/>
            <a:ext cx="7178040" cy="265176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416052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959AD"/>
                </a:solidFill>
              </a:defRPr>
            </a:pPr>
            <a:r>
              <a:t>价值产出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4572000"/>
            <a:ext cx="6583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• 缩短 MTTR，降低人工排查耗时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提升分析正确率与跨团队协同效率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沉淀可审计、可回放、可治理的组织知识资产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2) 系统总体架构图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1691640" cy="82296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371600"/>
            <a:ext cx="14813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用户/值班SRE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48840" y="1353312"/>
            <a:ext cx="22860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097280"/>
            <a:ext cx="2057400" cy="82296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13075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Frontend</a:t>
            </a:r>
            <a:br/>
            <a:r>
              <a:t>React + WS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26280" y="1353312"/>
            <a:ext cx="22860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097280"/>
            <a:ext cx="2057400" cy="82296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29844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FastAPI API层</a:t>
            </a:r>
            <a:br/>
            <a:r>
              <a:t>REST + WebSocket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03720" y="1353312"/>
            <a:ext cx="22860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1097280"/>
            <a:ext cx="4572000" cy="82296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371600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DebateService -&gt; create_ai_debate_orchestrator -&gt; LangGraphRuntime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148840"/>
            <a:ext cx="4389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交互协议层（真实接口）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97480"/>
            <a:ext cx="3886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POST /api/v1/incidents, /debates, /reports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WS /ws/debates/{session_id}?auto_start=true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snapshot/event/result 三类实时消息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30368" y="2395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运行时核心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697480"/>
            <a:ext cx="2743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GraphBuilder 动态建图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Supervisor 动态路由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PhaseExecutor 并行分析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AgentRunner 统一调用LLM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214884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23957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Agent 协作层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0224" y="2697480"/>
            <a:ext cx="2880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F2937"/>
                </a:solidFill>
              </a:defRPr>
            </a:pPr>
            <a:r>
              <a:t>• ProblemAnalysisAgent（主控）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Analysis: Log/Domain/Code/Metrics/Change/Runbook/Rule</a:t>
            </a:r>
          </a:p>
          <a:p>
            <a:pPr>
              <a:defRPr sz="1000">
                <a:solidFill>
                  <a:srgbClr val="1F2937"/>
                </a:solidFill>
              </a:defRPr>
            </a:pPr>
            <a:r>
              <a:t>• Critic/Rebuttal/Judge/Verification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343400"/>
            <a:ext cx="3931920" cy="182880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72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工具与连接器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1888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CodeAgent: Git repo search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LogAgent: local log reader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DomainAgent: Excel/CSV mapping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Telemetry/CMDB connector（可配置）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343400"/>
            <a:ext cx="3657600" cy="182880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会话与审计存储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18888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DebateRepository(file|memory)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runtime_session_store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lineage_recorder + tool_audit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report_generation_service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343400"/>
            <a:ext cx="3383280" cy="182880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质量与治理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18888"/>
            <a:ext cx="2926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Benchmark Center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Governance Center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Investigation Workbench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War Room 实时态势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3) LangGraph 运行时架构图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Runtime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97280"/>
            <a:ext cx="112928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959AD"/>
                </a:solidFill>
              </a:defRPr>
            </a:pPr>
            <a:r>
              <a:t>StateGraph 拓扑（真实节点名）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1280160" cy="56692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START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21408" y="2212848"/>
            <a:ext cx="1828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59152" y="2011680"/>
            <a:ext cx="1645920" cy="56692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194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init_session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41648" y="2212848"/>
            <a:ext cx="1828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9392" y="2011680"/>
            <a:ext cx="1508760" cy="56692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21945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round_start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33872" y="2212848"/>
            <a:ext cx="1828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71616" y="2011680"/>
            <a:ext cx="1828800" cy="566928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1945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supervisor_decide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108960"/>
            <a:ext cx="2057400" cy="6400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56816" y="3310128"/>
            <a:ext cx="1783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t>analysis_parallel_node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108960"/>
            <a:ext cx="2240280" cy="6400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3310128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t>analysis_collaboration_node*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3108960"/>
            <a:ext cx="2011680" cy="6400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3101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t>speak:&lt;agent&gt;_node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108960"/>
            <a:ext cx="1645920" cy="6400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33101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t>round_evaluate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27080" y="3108960"/>
            <a:ext cx="777240" cy="6400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00232" y="33101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t>finalize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309360" y="2697480"/>
            <a:ext cx="146304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6601968" y="2697480"/>
            <a:ext cx="146304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6894576" y="2697480"/>
            <a:ext cx="146304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187184" y="2697480"/>
            <a:ext cx="146304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7479792" y="2697480"/>
            <a:ext cx="146304" cy="22860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ft Arrow 34"/>
          <p:cNvSpPr/>
          <p:nvPr/>
        </p:nvSpPr>
        <p:spPr>
          <a:xfrm>
            <a:off x="2651760" y="4069080"/>
            <a:ext cx="201168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eft Arrow 35"/>
          <p:cNvSpPr/>
          <p:nvPr/>
        </p:nvSpPr>
        <p:spPr>
          <a:xfrm>
            <a:off x="5212080" y="4069080"/>
            <a:ext cx="201168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7726679" y="4069080"/>
            <a:ext cx="201168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4270248"/>
            <a:ext cx="6675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D81"/>
                </a:solidFill>
              </a:defRPr>
            </a:pPr>
            <a:r>
              <a:t>analysis_parallel / collaboration / 各agent节点 运行后均回到 supervisor_decide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4572000"/>
            <a:ext cx="2011680" cy="6400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9952" y="4773168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937"/>
                </a:solidFill>
              </a:defRPr>
            </a:pPr>
            <a:r>
              <a:t>continue_next_round=true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27080" y="4572000"/>
            <a:ext cx="777240" cy="6400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0232" y="47731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</a:defRPr>
            </a:pPr>
            <a:r>
              <a:t>END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555480" y="3794760"/>
            <a:ext cx="182880" cy="59436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11201400" y="3794760"/>
            <a:ext cx="182880" cy="59436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8064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D81"/>
                </a:solidFill>
              </a:defRPr>
            </a:pPr>
            <a:r>
              <a:t>* 当 DEBATE_ENABLE_COLLABORATION=false 时，analysis_collaboration_node 不加入图。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4) 多 Agent 协作网络图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Network &amp; Debate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331720"/>
            <a:ext cx="2514600" cy="109728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10912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ProblemAnalysisAgent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143000"/>
            <a:ext cx="1874519" cy="868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3990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LogAgent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914400"/>
            <a:ext cx="1874519" cy="8686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1704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DomainAgent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143000"/>
            <a:ext cx="1874519" cy="868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7" y="13990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CodeAgent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697480"/>
            <a:ext cx="1874519" cy="8686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95351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MetricsAgent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389120"/>
            <a:ext cx="1874519" cy="868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7" y="46451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ChangeAgent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617720"/>
            <a:ext cx="1874519" cy="8686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48737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RunbookAgent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389120"/>
            <a:ext cx="1874519" cy="86868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46451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CriticAgent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97480"/>
            <a:ext cx="1874519" cy="868680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295351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RebuttalAgent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114800"/>
            <a:ext cx="1874519" cy="86868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43708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JudgeAgent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783080"/>
            <a:ext cx="1874519" cy="86868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03911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VerificationAgent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840480" y="178308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5989320" y="178308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7543800" y="260604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7635240" y="388620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989320" y="452628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3840480" y="452628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651760" y="388620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2651760" y="260604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7955279" y="2057400"/>
            <a:ext cx="868680" cy="155448"/>
          </a:xfrm>
          <a:prstGeom prst="rightArrow">
            <a:avLst/>
          </a:prstGeom>
          <a:solidFill>
            <a:srgbClr val="149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协作规则：主 Agent 先发命令；子 Agent 结合命令与上下文决定是否调用工具；Critic/Rebuttal/Judge 负责争议收敛与结论裁决。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5) 工具调用与审计链路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Tooling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874519" cy="118872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主 Agent 命令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42032" y="2487168"/>
            <a:ext cx="18288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2011680"/>
            <a:ext cx="1874519" cy="118872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423160"/>
            <a:ext cx="1691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Command Gate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45152" y="2487168"/>
            <a:ext cx="18288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2011680"/>
            <a:ext cx="2057400" cy="118872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4231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Tool Execute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31152" y="2487168"/>
            <a:ext cx="18288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0" y="2011680"/>
            <a:ext cx="2011680" cy="118872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Output Truncate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17152" y="2487168"/>
            <a:ext cx="182880" cy="182880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2011680"/>
            <a:ext cx="2103120" cy="118872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42316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</a:defRPr>
            </a:pPr>
            <a:r>
              <a:t>Audit + Lineage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5760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关键审计字段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15968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event_type / timestamp / agent_name / phase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tool_name / action / status / error_reason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command_preview / decision_source / permission_decision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I/O trace: file read, git command, http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703320"/>
            <a:ext cx="4983480" cy="2377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93192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策略约束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315968"/>
            <a:ext cx="4526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无命令不调用工具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无配置不展示工具记录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失败必须显式降级并记录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前端可查看摘要与完整引用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6) 端到端流程图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Incident to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1 创建Incident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POST /incidents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20824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67712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9152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2 创建会话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POST /debates?incident_id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30168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77056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8496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3 建立WS连接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/ws/debates/{session}?auto_start=true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76672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4 debate_service.execute_debate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asset_collection + run orchestrator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6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0064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5 Graph执行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round_start -&gt; supervisor_decide -&gt; 动态agent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69680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16568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6 事件推送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event/snapshot/result 到前端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479024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25912" y="1874519"/>
            <a:ext cx="1325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17352" y="203911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7 结果沉淀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17352" y="2423160"/>
            <a:ext cx="1143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DebateResult + Lineage + ToolAudit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2088367" y="2514600"/>
            <a:ext cx="182880" cy="146304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35256" y="1874519"/>
            <a:ext cx="1463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26696" y="20391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959AD"/>
                </a:solidFill>
              </a:defRPr>
            </a:pPr>
            <a:r>
              <a:t>8 报告生成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26696" y="24231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</a:defRPr>
            </a:pPr>
            <a:r>
              <a:t>JSON/Markdown/HTML + history replay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023360"/>
            <a:ext cx="10972800" cy="20116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2793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关键控制点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36008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ws_debates.py 负责 snapshot/event/result 广播与任务状态更新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PhaseExecutor.analysis 使用 asyncio.gather 并行执行分析Agent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execution.py 统一 LLM 调用、超时计划、重试与结构化输出解析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StateTransitionService 负责消息去重与状态快照合并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7) 状态机与数据模型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State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669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DebateStatus 状态机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097280" cy="56692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1828800"/>
            <a:ext cx="1097280" cy="56692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201168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RUNNING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1097280" cy="566928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01168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ANALYZING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097280" cy="566928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1168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DEBATING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3017520"/>
            <a:ext cx="1097280" cy="566928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320040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JUDGING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3017520"/>
            <a:ext cx="1097280" cy="566928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20040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3017520"/>
            <a:ext cx="1097280" cy="566928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20040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FAILED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114800"/>
            <a:ext cx="1097280" cy="566928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29768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RETRYING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114800"/>
            <a:ext cx="1097280" cy="566928"/>
          </a:xfrm>
          <a:prstGeom prst="roundRect">
            <a:avLst/>
          </a:prstGeom>
          <a:solidFill>
            <a:srgbClr val="FFF5EA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29768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CANCELLED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029968" y="2048256"/>
            <a:ext cx="4114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310128" y="2048256"/>
            <a:ext cx="4114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590288" y="2048256"/>
            <a:ext cx="4114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2578608" y="2743200"/>
            <a:ext cx="4114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4160520" y="2743200"/>
            <a:ext cx="4114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3154680" y="3840480"/>
            <a:ext cx="41148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非法 phase 将被校验拦截并降级，避免会话陷入无响应。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097280"/>
            <a:ext cx="5212080" cy="5440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核心数据对象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1737360"/>
            <a:ext cx="4709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Incident: 输入故障上下文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DebateSession: 执行状态 + 配置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DebateRound: 每轮agent输出与证据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DebateResult: Top-K根因/置信度/建议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LineageRecord: 时间线与工具审计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3977639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959AD"/>
                </a:solidFill>
              </a:defRPr>
            </a:pPr>
            <a:r>
              <a:t>本地存储策略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832" y="4279392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LOCAL_STORE_BACKEND=file|memory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LOCAL_STORE_DIR 持久化会话与报告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暂不依赖外部数据库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8) 前端体验与页面结构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UX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64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98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原则：实时感知、过程透明、结果可解释、关键操作可达。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544068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首页 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新建并启动分析、统计、agent介绍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4028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42316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分析页 /incident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资产映射 / 辩论过程 / 辩论结果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战情页 /war-room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时间线+工具调用+证据链+结论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复盘台 /workbench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160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关键决策回放、报告版本对比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5440680" cy="12344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工具中心 /tools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工具管理、试运行、审计查询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074920"/>
            <a:ext cx="5440680" cy="12344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959AD"/>
                </a:solidFill>
              </a:defRPr>
            </a:pPr>
            <a:r>
              <a:t>治理中心 /governance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57784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F2937"/>
                </a:solidFill>
              </a:defRPr>
            </a:pPr>
            <a:r>
              <a:t>成功率、超时率、成本与风险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57800"/>
            <a:ext cx="11064240" cy="123444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46811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959AD"/>
                </a:solidFill>
              </a:defRPr>
            </a:pPr>
            <a:r>
              <a:t>已实现关键体验优化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7607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聊天消息支持缩略+展开，避免大段JSON直接干扰阅读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全链路统一北京时间显示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分析中任务可进入详情持续追踪，不跳空白页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11) API 与扩展能力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API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5669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核心接口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POST /api/v1/incidents/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POST /api/v1/debates/?incident_id=...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POST /api/v1/debates/{session_id}/execute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GET /api/v1/debates/{session_id}/result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POST /api/v1/reports/{incident_id}/regenerate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GET/PUT /api/v1/settings/tooling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WS /ws/debates/{session_id}?auto_start=true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097280"/>
            <a:ext cx="5166360" cy="26060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3533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模型配置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1719072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LLM_BASE_URL=ark...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LLM_MODEL=kimi-k2.5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LLM_API_KEY=环境变量注入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分阶段 timeout + max_concurrency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931920"/>
            <a:ext cx="5166360" cy="26060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4187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959AD"/>
                </a:solidFill>
              </a:defRPr>
            </a:pPr>
            <a:r>
              <a:t>扩展入口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4553712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TelemetryConnector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CMDBConnector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Tool Registry 生命周期管理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Skill化 Prompt 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12) Agent 工具能力矩阵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Agent x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642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当前工具能力与门禁策略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424160" cy="603504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CodeAgent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11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Git 仓库检索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已接入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011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主Agent命令 + 配置开启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542032"/>
            <a:ext cx="10424160" cy="603504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24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LogAgent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249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本地日志读取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7249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已接入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249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主Agent命令 + 配置开启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255264"/>
            <a:ext cx="10424160" cy="603504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38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DomainAgent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4381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Excel/CSV 资产映射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43814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已接入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4381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主Agent命令 + 配置开启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68496"/>
            <a:ext cx="10424160" cy="603504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513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MetricsAgent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15137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Telemetry Connector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15137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可接入入口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1513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配置开启后调用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681728"/>
            <a:ext cx="10424160" cy="603504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646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ChangeAgent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646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CMDB/变更源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8646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可接入入口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8646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配置开启后调用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394960"/>
            <a:ext cx="10424160" cy="603504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577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</a:defRPr>
            </a:pPr>
            <a:r>
              <a:t>ProblemAnalysisAgent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577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规则建议工具包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577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已接入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577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D81"/>
                </a:solidFill>
              </a:defRPr>
            </a:pPr>
            <a:r>
              <a:t>聚合证据与调度参考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13) 辩论策略与轮次控制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Debate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5440680" cy="5440680"/>
          </a:xfrm>
          <a:prstGeom prst="roundRect">
            <a:avLst/>
          </a:prstGeom>
          <a:solidFill>
            <a:srgbClr val="F1EE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策略配置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DEBATE_MAX_ROUNDS 默认=1（可配置）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DEBATE_ENABLE_CRITIQUE=true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DEBATE_ENABLE_COLLABORATION 可切换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DEBATE_REQUIRE_EFFECTIVE_LLM_CONCLUSION=true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runtime_strategy_center 依据严重度选策略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execution_mode: standard/quick/background/async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349240" cy="5440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性能与耗时优化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7373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按阶段设置 timeout（分析/评审/裁决/报告）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并发控制 LLM_MAX_CONCURRENCY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长上下文 compaction + prune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超时重试与局部降级防止卡死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结果结构化约束减少“空报告”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14) 运行时序图（代码对齐）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WS + Debate +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110642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5331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959AD"/>
                </a:solidFill>
              </a:defRPr>
            </a:pPr>
            <a:r>
              <a:t>前后端联动时序（对应 ws_debates.py + debate_service.py + langgraph_runtime.py）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737360" cy="5486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4792" y="2395728"/>
            <a:ext cx="27432" cy="3474720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1737360" cy="5486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WSManager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2395728"/>
            <a:ext cx="27432" cy="3474720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828800"/>
            <a:ext cx="1737360" cy="5486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01168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DebateService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5272" y="2395728"/>
            <a:ext cx="27432" cy="3474720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03720" y="1828800"/>
            <a:ext cx="1737360" cy="54864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59" y="201168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LangGraphRuntime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54112" y="2395728"/>
            <a:ext cx="27432" cy="3474720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1737360" cy="54864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</a:defRPr>
            </a:pPr>
            <a:r>
              <a:t>Agents/Tools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4392" y="2395728"/>
            <a:ext cx="27432" cy="3474720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1828800" y="2697480"/>
            <a:ext cx="96012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56231" y="254203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connect ws(auto_start)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749039" y="2971800"/>
            <a:ext cx="96012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28163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execute_debate()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669280" y="3246120"/>
            <a:ext cx="114300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30906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orchestrator.execute()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818120" y="3520440"/>
            <a:ext cx="1234440" cy="109728"/>
          </a:xfrm>
          <a:prstGeom prst="righ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3649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supervisor -&gt; agents</a:t>
            </a:r>
          </a:p>
        </p:txBody>
      </p:sp>
      <p:sp>
        <p:nvSpPr>
          <p:cNvPr id="32" name="Left Arrow 31"/>
          <p:cNvSpPr/>
          <p:nvPr/>
        </p:nvSpPr>
        <p:spPr>
          <a:xfrm>
            <a:off x="7818120" y="3840480"/>
            <a:ext cx="1234440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8704" y="36850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evidence/tool result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5669280" y="4160520"/>
            <a:ext cx="1143000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33288" y="400507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final payload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3749039" y="4480560"/>
            <a:ext cx="960120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4325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event/result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1828800" y="4800600"/>
            <a:ext cx="960120" cy="109728"/>
          </a:xfrm>
          <a:prstGeom prst="leftArrow">
            <a:avLst/>
          </a:prstGeom>
          <a:solidFill>
            <a:srgbClr val="22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83664" y="46451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D81"/>
                </a:solidFill>
              </a:defRPr>
            </a:pPr>
            <a:r>
              <a:t>snapshot/event/result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" y="5166360"/>
            <a:ext cx="10515600" cy="105156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35838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• 事件在 event_callback 中实时透传；前端不需要轮询即可看到阶段推进和agent发言。</a:t>
            </a:r>
          </a:p>
          <a:p>
            <a:pPr>
              <a:defRPr sz="1100">
                <a:solidFill>
                  <a:srgbClr val="1F2937"/>
                </a:solidFill>
              </a:defRPr>
            </a:pPr>
            <a:r>
              <a:t>• 异常路径会广播 error + snapshot，避免“前端空白但后端已失败”的黑盒体验。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15) 报告可视化设计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Report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110642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报告页采用模块化可视化，不再直接裸展示 Markdown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874519"/>
            <a:ext cx="5257800" cy="10972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391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诊断总览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主结论、置信度、风险级别、会话信息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874519"/>
            <a:ext cx="5257800" cy="10972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391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Top-K 根因候选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排名、置信度区间、证据强度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5257800" cy="10972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3649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证据链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657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来源、时间、引用路径，可展开详情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3200400"/>
            <a:ext cx="5257800" cy="10972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3649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修复建议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657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动作清单、风险评估、验证计划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526279"/>
            <a:ext cx="5257800" cy="10972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69087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报告模块卡片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9834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按主题结构化分组，支持展开全文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4526279"/>
            <a:ext cx="5257800" cy="10972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69087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959AD"/>
                </a:solidFill>
              </a:defRPr>
            </a:pPr>
            <a:r>
              <a:t>下载导出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9834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markdown/json/html 多格式输出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16) Benchmark 与治理深度能力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Ops Excellence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5440680" cy="5440680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Benchmark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373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支持样本数/超时参数调节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输出 Top1/Top3、overlap、timeout、empty rate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历史基线追踪与对比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可接 CI 作为回归门禁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349240" cy="5440680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71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Governance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1737360"/>
            <a:ext cx="4800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• 按团队展示成功率与失败率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按会话分析超时热点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按工具统计调用成功率与错误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• 支撑策略迭代与运营决策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17) 风险点与控制措施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Risk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97280"/>
            <a:ext cx="110642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959AD"/>
                </a:solidFill>
              </a:defRPr>
            </a:pPr>
            <a:r>
              <a:t>关键风险与缓解策略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847088"/>
            <a:ext cx="10424160" cy="65836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4825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LLM超时或慢响应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48256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分阶段timeout + 重试 + fallback + 并发限制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596896"/>
            <a:ext cx="10424160" cy="65836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9806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工具调用不可用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98064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开关控制 + 健康探测 + 审计降级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46703"/>
            <a:ext cx="10424160" cy="65836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4787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分析结论为空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547872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强制有效结论策略 + 再分析触发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096511"/>
            <a:ext cx="10424160" cy="658368"/>
          </a:xfrm>
          <a:prstGeom prst="roundRect">
            <a:avLst/>
          </a:prstGeom>
          <a:solidFill>
            <a:srgbClr val="ECF4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97679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消息重复/显示不完整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97679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前端去重 + 流式协议标准化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46320"/>
            <a:ext cx="10424160" cy="658368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474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状态机异常卡死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047488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严格状态迁移校验 + 异常恢复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596128"/>
            <a:ext cx="10424160" cy="658368"/>
          </a:xfrm>
          <a:prstGeom prst="roundRect">
            <a:avLst/>
          </a:prstGeom>
          <a:solidFill>
            <a:srgbClr val="E9FAFD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79729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959AD"/>
                </a:solidFill>
              </a:defRPr>
            </a:pPr>
            <a:r>
              <a:t>责任田映射遗漏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797296"/>
            <a:ext cx="6492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</a:defRPr>
            </a:pPr>
            <a:r>
              <a:t>资源规范化 + 多源映射兜底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0A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011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DDEF7"/>
                </a:solidFill>
              </a:defRPr>
            </a:pPr>
            <a:r>
              <a:t>Technical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2011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2C9EC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959AD"/>
                </a:solidFill>
              </a:defRPr>
            </a:pPr>
            <a:r>
              <a:t>系统已具备“多 Agent 协作 + 工具审计 + 可回放治理”的生产问题分析闭环。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80360"/>
            <a:ext cx="9326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• 架构完整：FastAPI + LangGraph + React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过程透明：命令驱动、工具审计、谱系回放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结果可用：Top-K根因、证据链、报告和验证计划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• 可持续优化：Benchmark + Governance 双闭环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806440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D81"/>
                </a:solidFill>
              </a:defRPr>
            </a:pPr>
            <a:r>
              <a:t>下一步：强化真实数据源接入与自治修复能力。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