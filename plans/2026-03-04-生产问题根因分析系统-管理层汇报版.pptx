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00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生产问题根因分析系统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50976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CDDF8"/>
                </a:solidFill>
              </a:defRPr>
            </a:pPr>
            <a:r>
              <a:t>管理层汇报版（Executive Deck）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965960"/>
            <a:ext cx="54406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959AD"/>
                </a:solidFill>
              </a:defRPr>
            </a:pPr>
            <a:r>
              <a:t>汇报重点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• 系统能力全景与业务价值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关键架构与端到端流程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多 Agent 协作与工具审计机制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结果质量与治理闭环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下一阶段改进路线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65960"/>
            <a:ext cx="5074920" cy="361188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959AD"/>
                </a:solidFill>
              </a:defRPr>
            </a:pPr>
            <a:r>
              <a:t>技术基线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9748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• FastAPI + LangGraph + React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LLM: kimi-k2.5（OpenAI兼容）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local file/memory 存储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WebSocket 实时事件流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Benchmark + Governance 治理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0807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F6D81"/>
                </a:solidFill>
              </a:defRPr>
            </a:pPr>
            <a:r>
              <a:t>2026-03-04 14:54:29（Asia/Shanghai）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48920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444752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1. 目标与价值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03704"/>
            <a:ext cx="48920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414016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2. 系统总体架构图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72968"/>
            <a:ext cx="48920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383280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3. LangGraph 运行时架构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42232"/>
            <a:ext cx="48920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35254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4. 多 Agent 协作网络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111496"/>
            <a:ext cx="48920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532180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5. 工具调用与审计链路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234440"/>
            <a:ext cx="48920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1444752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6. 端到端流程图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203704"/>
            <a:ext cx="48920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2414016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7. 状态机与数据模型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172968"/>
            <a:ext cx="48920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3383280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8. 前端体验与页面结构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4142232"/>
            <a:ext cx="48920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35254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9. 质量保障与治理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5111496"/>
            <a:ext cx="48920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532180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10. 路线图与计划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1) 目标与业务价值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97280"/>
            <a:ext cx="3611880" cy="5440680"/>
          </a:xfrm>
          <a:prstGeom prst="roundRect">
            <a:avLst/>
          </a:prstGeom>
          <a:solidFill>
            <a:srgbClr val="FFF5EA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03939"/>
                </a:solidFill>
              </a:defRPr>
            </a:pPr>
            <a:r>
              <a:t>典型痛点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2880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• 故障证据分散，排查链路断裂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跨团队沟通成本高，责任难界定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单次结论可解释性不足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缺少可回放的过程记录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高峰期存在 pending 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097280"/>
            <a:ext cx="71780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371600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959AD"/>
                </a:solidFill>
              </a:defRPr>
            </a:pPr>
            <a:r>
              <a:t>平台目标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783080"/>
            <a:ext cx="6583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• 主 Agent 指挥多专家 Agent 协作，实现结构化根因分析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统一打通日志、代码、资产、指标证据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结果可复核：Top-K 根因、证据链、置信度、验证计划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3886200"/>
            <a:ext cx="7178040" cy="265176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4160520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959AD"/>
                </a:solidFill>
              </a:defRPr>
            </a:pPr>
            <a:r>
              <a:t>价值产出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4572000"/>
            <a:ext cx="6583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• 缩短 MTTR，降低人工排查耗时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提升分析正确率与跨团队协同效率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沉淀可审计、可回放、可治理的组织知识资产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2) 系统总体架构图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1691640" cy="822960"/>
          </a:xfrm>
          <a:prstGeom prst="roundRect">
            <a:avLst/>
          </a:prstGeom>
          <a:solidFill>
            <a:srgbClr val="FFF5EA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371600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用户/值班SRE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48840" y="1353312"/>
            <a:ext cx="228600" cy="182880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23160" y="1097280"/>
            <a:ext cx="2057400" cy="82296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7752" y="13075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Frontend</a:t>
            </a:r>
            <a:br/>
            <a:r>
              <a:t>React + WS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526280" y="1353312"/>
            <a:ext cx="228600" cy="182880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00600" y="1097280"/>
            <a:ext cx="2057400" cy="82296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1298448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FastAPI API层</a:t>
            </a:r>
            <a:br/>
            <a:r>
              <a:t>REST + WebSocket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903720" y="1353312"/>
            <a:ext cx="228600" cy="182880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78040" y="1097280"/>
            <a:ext cx="4572000" cy="822960"/>
          </a:xfrm>
          <a:prstGeom prst="roundRect">
            <a:avLst/>
          </a:prstGeom>
          <a:solidFill>
            <a:srgbClr val="F1EE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137160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DebateService -&gt; create_ai_debate_orchestrator -&gt; LangGraphRuntime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148840"/>
            <a:ext cx="43891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3957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959AD"/>
                </a:solidFill>
              </a:defRPr>
            </a:pPr>
            <a:r>
              <a:t>交互协议层（真实接口）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697480"/>
            <a:ext cx="3886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POST /api/v1/incidents, /debates, /reports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WS /ws/debates/{session_id}?auto_start=true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snapshot/event/result 三类实时消息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3480" y="2148840"/>
            <a:ext cx="32461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0368" y="2395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959AD"/>
                </a:solidFill>
              </a:defRPr>
            </a:pPr>
            <a:r>
              <a:t>运行时核心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2697480"/>
            <a:ext cx="2743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GraphBuilder 动态建图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Supervisor 动态路由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PhaseExecutor 并行分析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AgentRunner 统一调用LLM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2148840"/>
            <a:ext cx="33375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50224" y="239572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959AD"/>
                </a:solidFill>
              </a:defRPr>
            </a:pPr>
            <a:r>
              <a:t>Agent 协作层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0224" y="2697480"/>
            <a:ext cx="2880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ProblemAnalysisAgent（主控）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Analysis: Log/Domain/Code/Metrics/Change/Runbook/Rule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Critic/Rebuttal/Judge/Verification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343400"/>
            <a:ext cx="3931920" cy="182880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572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959AD"/>
                </a:solidFill>
              </a:defRPr>
            </a:pPr>
            <a:r>
              <a:t>工具与连接器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818888"/>
            <a:ext cx="3520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CodeAgent: Git repo search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LogAgent: local log reader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DomainAgent: Excel/CSV mapping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Telemetry/CMDB connector（可配置）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4343400"/>
            <a:ext cx="3657600" cy="182880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959AD"/>
                </a:solidFill>
              </a:defRPr>
            </a:pPr>
            <a:r>
              <a:t>会话与审计存储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818888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DebateRepository(file|memory)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runtime_session_store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lineage_recorder + tool_audit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report_generation_service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4343400"/>
            <a:ext cx="3383280" cy="1828800"/>
          </a:xfrm>
          <a:prstGeom prst="roundRect">
            <a:avLst/>
          </a:prstGeom>
          <a:solidFill>
            <a:srgbClr val="F1EE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4572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959AD"/>
                </a:solidFill>
              </a:defRPr>
            </a:pPr>
            <a:r>
              <a:t>质量与治理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818888"/>
            <a:ext cx="2926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Benchmark Center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Governance Center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Investigation Workbench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War Room 实时态势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6) 端到端流程图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Incident to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1325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391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959AD"/>
                </a:solidFill>
              </a:defRPr>
            </a:pPr>
            <a:r>
              <a:t>1 创建Incident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23160"/>
            <a:ext cx="1143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POST /incidents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20824" y="2514600"/>
            <a:ext cx="182880" cy="146304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67712" y="1874519"/>
            <a:ext cx="1325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9152" y="20391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959AD"/>
                </a:solidFill>
              </a:defRPr>
            </a:pPr>
            <a:r>
              <a:t>2 创建会话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423160"/>
            <a:ext cx="1143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POST /debates?incident_id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630168" y="2514600"/>
            <a:ext cx="182880" cy="146304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77056" y="1874519"/>
            <a:ext cx="1463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68496" y="20391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959AD"/>
                </a:solidFill>
              </a:defRPr>
            </a:pPr>
            <a:r>
              <a:t>3 建立WS连接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96" y="2423160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/ws/debates/{session}?auto_start=true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376672" y="2514600"/>
            <a:ext cx="182880" cy="146304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60" y="1874519"/>
            <a:ext cx="1463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20391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959AD"/>
                </a:solidFill>
              </a:defRPr>
            </a:pPr>
            <a:r>
              <a:t>4 debate_service.execute_debate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2423160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asset_collection + run orchestrator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23176" y="2514600"/>
            <a:ext cx="182880" cy="146304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70064" y="1874519"/>
            <a:ext cx="1463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61504" y="20391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959AD"/>
                </a:solidFill>
              </a:defRPr>
            </a:pPr>
            <a:r>
              <a:t>5 Graph执行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1504" y="2423160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round_start -&gt; supervisor_decide -&gt; 动态agent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69680" y="2514600"/>
            <a:ext cx="182880" cy="146304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16568" y="1874519"/>
            <a:ext cx="1325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08008" y="20391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959AD"/>
                </a:solidFill>
              </a:defRPr>
            </a:pPr>
            <a:r>
              <a:t>6 事件推送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8008" y="2423160"/>
            <a:ext cx="1143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event/snapshot/result 到前端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479024" y="2514600"/>
            <a:ext cx="182880" cy="146304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725912" y="1874519"/>
            <a:ext cx="1325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17352" y="20391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959AD"/>
                </a:solidFill>
              </a:defRPr>
            </a:pPr>
            <a:r>
              <a:t>7 结果沉淀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17352" y="2423160"/>
            <a:ext cx="1143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DebateResult + Lineage + ToolAudit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2088367" y="2514600"/>
            <a:ext cx="182880" cy="146304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335256" y="1874519"/>
            <a:ext cx="1463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426696" y="20391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959AD"/>
                </a:solidFill>
              </a:defRPr>
            </a:pPr>
            <a:r>
              <a:t>8 报告生成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26696" y="2423160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JSON/Markdown/HTML + history replay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023360"/>
            <a:ext cx="10972800" cy="201168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27939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959AD"/>
                </a:solidFill>
              </a:defRPr>
            </a:pPr>
            <a:r>
              <a:t>关键控制点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636008"/>
            <a:ext cx="10424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ws_debates.py 负责 snapshot/event/result 广播与任务状态更新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PhaseExecutor.analysis 使用 asyncio.gather 并行执行分析Agent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execution.py 统一 LLM 调用、超时计划、重试与结构化输出解析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StateTransitionService 负责消息去重与状态快照合并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8) 前端体验与页面结构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UX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11064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9888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959AD"/>
                </a:solidFill>
              </a:defRPr>
            </a:pPr>
            <a:r>
              <a:t>原则：实时感知、过程透明、结果可解释、关键操作可达。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5440680" cy="123444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959AD"/>
                </a:solidFill>
              </a:defRPr>
            </a:pPr>
            <a:r>
              <a:t>首页 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2937"/>
                </a:solidFill>
              </a:defRPr>
            </a:pPr>
            <a:r>
              <a:t>新建并启动分析、统计、agent介绍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240280"/>
            <a:ext cx="5440680" cy="123444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42316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959AD"/>
                </a:solidFill>
              </a:defRPr>
            </a:pPr>
            <a:r>
              <a:t>分析页 /incident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2937"/>
                </a:solidFill>
              </a:defRPr>
            </a:pPr>
            <a:r>
              <a:t>资产映射 / 辩论过程 / 辩论结果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23444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959AD"/>
                </a:solidFill>
              </a:defRPr>
            </a:pPr>
            <a:r>
              <a:t>战情页 /war-room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2937"/>
                </a:solidFill>
              </a:defRPr>
            </a:pPr>
            <a:r>
              <a:t>时间线+工具调用+证据链+结论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657600"/>
            <a:ext cx="5440680" cy="123444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84048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959AD"/>
                </a:solidFill>
              </a:defRPr>
            </a:pPr>
            <a:r>
              <a:t>复盘台 /workbench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16052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2937"/>
                </a:solidFill>
              </a:defRPr>
            </a:pPr>
            <a:r>
              <a:t>关键决策回放、报告版本对比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74920"/>
            <a:ext cx="5440680" cy="123444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5780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959AD"/>
                </a:solidFill>
              </a:defRPr>
            </a:pPr>
            <a:r>
              <a:t>工具中心 /tools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2937"/>
                </a:solidFill>
              </a:defRPr>
            </a:pPr>
            <a:r>
              <a:t>工具管理、试运行、审计查询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5074920"/>
            <a:ext cx="5440680" cy="123444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525780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959AD"/>
                </a:solidFill>
              </a:defRPr>
            </a:pPr>
            <a:r>
              <a:t>治理中心 /governance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57784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2937"/>
                </a:solidFill>
              </a:defRPr>
            </a:pPr>
            <a:r>
              <a:t>成功率、超时率、成本与风险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257800"/>
            <a:ext cx="11064240" cy="1234440"/>
          </a:xfrm>
          <a:prstGeom prst="roundRect">
            <a:avLst/>
          </a:prstGeom>
          <a:solidFill>
            <a:srgbClr val="F1EE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46811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959AD"/>
                </a:solidFill>
              </a:defRPr>
            </a:pPr>
            <a:r>
              <a:t>已实现关键体验优化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7607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聊天消息支持缩略+展开，避免大段JSON直接干扰阅读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全链路统一北京时间显示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分析中任务可进入详情持续追踪，不跳空白页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9) 质量保障与治理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Benchmark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97280"/>
            <a:ext cx="3703320" cy="544068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959AD"/>
                </a:solidFill>
              </a:defRPr>
            </a:pPr>
            <a:r>
              <a:t>Benchmark 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90195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Top1命中率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1920240"/>
            <a:ext cx="2011680" cy="164592"/>
          </a:xfrm>
          <a:prstGeom prst="roundRect">
            <a:avLst/>
          </a:prstGeom>
          <a:solidFill>
            <a:srgbClr val="DE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65960" y="1920240"/>
            <a:ext cx="1448409" cy="164592"/>
          </a:xfrm>
          <a:prstGeom prst="roundRect">
            <a:avLst/>
          </a:prstGeom>
          <a:solidFill>
            <a:srgbClr val="0F9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18928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D81"/>
                </a:solidFill>
              </a:defRPr>
            </a:pPr>
            <a:r>
              <a:t>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54203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Top3命中率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2560320"/>
            <a:ext cx="2011680" cy="164592"/>
          </a:xfrm>
          <a:prstGeom prst="roundRect">
            <a:avLst/>
          </a:prstGeom>
          <a:solidFill>
            <a:srgbClr val="DE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65960" y="2560320"/>
            <a:ext cx="1770278" cy="164592"/>
          </a:xfrm>
          <a:prstGeom prst="roundRect">
            <a:avLst/>
          </a:prstGeom>
          <a:solidFill>
            <a:srgbClr val="0F9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253288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D81"/>
                </a:solidFill>
              </a:defRPr>
            </a:pPr>
            <a:r>
              <a:t>88%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18211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超时率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3200400"/>
            <a:ext cx="2011680" cy="164592"/>
          </a:xfrm>
          <a:prstGeom prst="roundRect">
            <a:avLst/>
          </a:prstGeom>
          <a:solidFill>
            <a:srgbClr val="DE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65960" y="3200400"/>
            <a:ext cx="422452" cy="164592"/>
          </a:xfrm>
          <a:prstGeom prst="roundRect">
            <a:avLst/>
          </a:prstGeom>
          <a:solidFill>
            <a:srgbClr val="D0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39" y="317296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D81"/>
                </a:solidFill>
              </a:defRPr>
            </a:pPr>
            <a:r>
              <a:t>21%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82219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空结论率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65960" y="3840480"/>
            <a:ext cx="2011680" cy="164592"/>
          </a:xfrm>
          <a:prstGeom prst="roundRect">
            <a:avLst/>
          </a:prstGeom>
          <a:solidFill>
            <a:srgbClr val="DE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965960" y="3840480"/>
            <a:ext cx="241401" cy="164592"/>
          </a:xfrm>
          <a:prstGeom prst="roundRect">
            <a:avLst/>
          </a:prstGeom>
          <a:solidFill>
            <a:srgbClr val="E29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381304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D81"/>
                </a:solidFill>
              </a:defRPr>
            </a:pPr>
            <a:r>
              <a:t>12%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0749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D81"/>
                </a:solidFill>
              </a:defRPr>
            </a:pPr>
            <a:r>
              <a:t>指标值由评测中心自动计算；可接入 CI 作为发布门禁。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1097280"/>
            <a:ext cx="713232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1371600"/>
            <a:ext cx="6583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959AD"/>
                </a:solidFill>
              </a:defRPr>
            </a:pPr>
            <a:r>
              <a:t>可观测机制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1737360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全链路时间戳与事件序号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Agent异常分类与降级策略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工具I/O审计与引用ID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会话重放与报告差异对比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3794760"/>
            <a:ext cx="7132320" cy="269748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4041648"/>
            <a:ext cx="6583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959AD"/>
                </a:solidFill>
              </a:defRPr>
            </a:pPr>
            <a:r>
              <a:t>治理看板关注点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407408"/>
            <a:ext cx="6583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团队维度成功率/超时率/失败类型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工具维度可用性与错误分布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会话维度关键决策链路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版本维度结果对比与回归监测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10) 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P0~P3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881360" cy="960120"/>
          </a:xfrm>
          <a:prstGeom prst="roundRect">
            <a:avLst/>
          </a:prstGeom>
          <a:solidFill>
            <a:srgbClr val="FFF5EA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5453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959AD"/>
                </a:solidFill>
              </a:defRPr>
            </a:pPr>
            <a:r>
              <a:t>P0 可用性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545336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自动调查、并行拉证据、超时切换、pending治理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881360" cy="96012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77977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959AD"/>
                </a:solidFill>
              </a:defRPr>
            </a:pPr>
            <a:r>
              <a:t>P1 准确率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779776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跨源证据约束、因果推理、Top-K区间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10881360" cy="96012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01421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959AD"/>
                </a:solidFill>
              </a:defRPr>
            </a:pPr>
            <a:r>
              <a:t>P2 可控修复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4014216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修复状态机、No-regression gate、回滚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881360" cy="960120"/>
          </a:xfrm>
          <a:prstGeom prst="roundRect">
            <a:avLst/>
          </a:prstGeom>
          <a:solidFill>
            <a:srgbClr val="F1EE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2486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959AD"/>
                </a:solidFill>
              </a:defRPr>
            </a:pPr>
            <a:r>
              <a:t>P3 平台治理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5248656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反馈学习、A/B评测、多租户与外部协同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0881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80644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D81"/>
                </a:solidFill>
              </a:defRPr>
            </a:pPr>
            <a:r>
              <a:t>执行建议：按阶段验收 + Benchmark门禁 + 前后端联调验收。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