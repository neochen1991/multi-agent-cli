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SRE Debate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336699"/>
                </a:solidFill>
              </a:defRPr>
            </a:pPr>
            <a:r>
              <a:t>多模型辩论式 SRE 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基于 AutoGen 多Agent编排构建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项目定位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基于 AutoGen 多Agent编排构建的多模型辩论式SRE智能体平台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核心目标</a:t>
            </a:r>
          </a:p>
          <a:p>
            <a:pPr>
              <a:spcBef>
                <a:spcPts val="1600"/>
              </a:spcBef>
              <a:defRPr sz="2000" b="1">
                <a:solidFill>
                  <a:srgbClr val="336699"/>
                </a:solidFill>
              </a:defRPr>
            </a:pPr>
            <a:r>
              <a:t>• 三态资产融合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打通设计态、开发态、运行态资产壁垒</a:t>
            </a:r>
          </a:p>
          <a:p>
            <a:pPr>
              <a:spcBef>
                <a:spcPts val="1600"/>
              </a:spcBef>
              <a:defRPr sz="2000" b="1">
                <a:solidFill>
                  <a:srgbClr val="336699"/>
                </a:solidFill>
              </a:defRPr>
            </a:pPr>
            <a:r>
              <a:t>• AI专家委员会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多角色协作决策，提升分析准确性</a:t>
            </a:r>
          </a:p>
          <a:p>
            <a:pPr>
              <a:spcBef>
                <a:spcPts val="1600"/>
              </a:spcBef>
              <a:defRPr sz="2000" b="1">
                <a:solidFill>
                  <a:srgbClr val="336699"/>
                </a:solidFill>
              </a:defRPr>
            </a:pPr>
            <a:r>
              <a:t>• 内部辩论机制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质疑-反驳-裁决提升结论可信度</a:t>
            </a:r>
          </a:p>
          <a:p>
            <a:pPr>
              <a:spcBef>
                <a:spcPts val="1600"/>
              </a:spcBef>
              <a:defRPr sz="2000" b="1">
                <a:solidFill>
                  <a:srgbClr val="336699"/>
                </a:solidFill>
              </a:defRPr>
            </a:pPr>
            <a:r>
              <a:t>• 智能修复建议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自动生成修复方案与影响分析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核心价值与亮点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创新亮点</a:t>
            </a:r>
          </a:p>
          <a:p>
            <a:pPr>
              <a:spcBef>
                <a:spcPts val="1400"/>
              </a:spcBef>
              <a:defRPr sz="2000" b="1">
                <a:solidFill>
                  <a:srgbClr val="336699"/>
                </a:solidFill>
              </a:defRPr>
            </a:pPr>
            <a:r>
              <a:t>● 三态资产融合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 统一建模运行态日志、开发态代码、设计态文档</a:t>
            </a:r>
          </a:p>
          <a:p>
            <a:pPr>
              <a:spcBef>
                <a:spcPts val="1400"/>
              </a:spcBef>
              <a:defRPr sz="2000" b="1">
                <a:solidFill>
                  <a:srgbClr val="336699"/>
                </a:solidFill>
              </a:defRPr>
            </a:pPr>
            <a:r>
              <a:t>● 多模型专家协作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 6个专业Agent分工协作，模拟专家委员会决策</a:t>
            </a:r>
          </a:p>
          <a:p>
            <a:pPr>
              <a:spcBef>
                <a:spcPts val="1400"/>
              </a:spcBef>
              <a:defRPr sz="2000" b="1">
                <a:solidFill>
                  <a:srgbClr val="336699"/>
                </a:solidFill>
              </a:defRPr>
            </a:pPr>
            <a:r>
              <a:t>● AI辩论机制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 质疑-反驳-裁决四阶段辩论，避免单一模型偏见</a:t>
            </a:r>
          </a:p>
          <a:p>
            <a:pPr>
              <a:spcBef>
                <a:spcPts val="1400"/>
              </a:spcBef>
              <a:defRPr sz="2000" b="1">
                <a:solidFill>
                  <a:srgbClr val="336699"/>
                </a:solidFill>
              </a:defRPr>
            </a:pPr>
            <a:r>
              <a:t>● 可追溯证据链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 构建完整的根因证据链，结论可解释、可追溯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业务价值</a:t>
            </a:r>
          </a:p>
          <a:p>
            <a:pPr>
              <a:spcBef>
                <a:spcPts val="1400"/>
              </a:spcBef>
              <a:defRPr sz="2000" b="1">
                <a:solidFill>
                  <a:srgbClr val="336699"/>
                </a:solidFill>
              </a:defRPr>
            </a:pPr>
            <a:r>
              <a:t>★ 缩短故障定位时间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 自动化分析替代人工排查</a:t>
            </a:r>
          </a:p>
          <a:p>
            <a:pPr>
              <a:spcBef>
                <a:spcPts val="1400"/>
              </a:spcBef>
              <a:defRPr sz="2000" b="1">
                <a:solidFill>
                  <a:srgbClr val="336699"/>
                </a:solidFill>
              </a:defRPr>
            </a:pPr>
            <a:r>
              <a:t>★ 提升分析准确性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 多角色辩论降低误判率</a:t>
            </a:r>
          </a:p>
          <a:p>
            <a:pPr>
              <a:spcBef>
                <a:spcPts val="1400"/>
              </a:spcBef>
              <a:defRPr sz="2000" b="1">
                <a:solidFill>
                  <a:srgbClr val="336699"/>
                </a:solidFill>
              </a:defRPr>
            </a:pPr>
            <a:r>
              <a:t>★ 知识沉淀复用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 案例库持续积累，经验可传承</a:t>
            </a:r>
          </a:p>
          <a:p>
            <a:pPr>
              <a:spcBef>
                <a:spcPts val="1400"/>
              </a:spcBef>
              <a:defRPr sz="2000" b="1">
                <a:solidFill>
                  <a:srgbClr val="336699"/>
                </a:solidFill>
              </a:defRPr>
            </a:pPr>
            <a:r>
              <a:t>★ 降低SRE技能门槛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 AI辅助决策，降低专家依赖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系统架构图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371600" cy="2286000"/>
          </a:xfrm>
          <a:prstGeom prst="roundRect">
            <a:avLst/>
          </a:prstGeom>
          <a:solidFill>
            <a:srgbClr val="FFF8DC"/>
          </a:solidFill>
          <a:ln>
            <a:solidFill>
              <a:srgbClr val="C8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用户</a:t>
            </a:r>
          </a:p>
          <a:p>
            <a:pPr algn="ctr">
              <a:defRPr sz="1200">
                <a:solidFill>
                  <a:srgbClr val="333333"/>
                </a:solidFill>
              </a:defRPr>
            </a:pPr>
            <a:r>
              <a:t>SRE工程师</a:t>
            </a:r>
            <a:br/>
            <a:r>
              <a:t>开发人员</a:t>
            </a:r>
            <a:br/>
            <a:r>
              <a:t>运维人员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691640" y="2560320"/>
            <a:ext cx="274320" cy="27432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1463040"/>
            <a:ext cx="1828800" cy="2743200"/>
          </a:xfrm>
          <a:prstGeom prst="roundRect">
            <a:avLst/>
          </a:prstGeom>
          <a:solidFill>
            <a:srgbClr val="E6F7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前端层</a:t>
            </a:r>
          </a:p>
          <a:p>
            <a:pPr algn="ctr">
              <a:defRPr sz="1100">
                <a:solidFill>
                  <a:srgbClr val="333333"/>
                </a:solidFill>
              </a:defRPr>
            </a:pPr>
            <a:r>
              <a:t>React 18</a:t>
            </a:r>
            <a:br/>
            <a:r>
              <a:t>TypeScript</a:t>
            </a:r>
            <a:br/>
            <a:r>
              <a:t>Ant Design</a:t>
            </a:r>
            <a:br/>
            <a:r>
              <a:t>WebSocket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86200" y="2560320"/>
            <a:ext cx="274320" cy="27432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1828800" cy="2743200"/>
          </a:xfrm>
          <a:prstGeom prst="roundRect">
            <a:avLst/>
          </a:prstGeom>
          <a:solidFill>
            <a:srgbClr val="C8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API网关</a:t>
            </a:r>
          </a:p>
          <a:p>
            <a:pPr algn="ctr">
              <a:defRPr sz="1100">
                <a:solidFill>
                  <a:srgbClr val="333333"/>
                </a:solidFill>
              </a:defRPr>
            </a:pPr>
            <a:r>
              <a:t>FastAPI</a:t>
            </a:r>
            <a:br/>
            <a:r>
              <a:t>鉴权/限流</a:t>
            </a:r>
            <a:br/>
            <a:r>
              <a:t>路由分发</a:t>
            </a:r>
            <a:br/>
            <a:r>
              <a:t>WebSocket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80760" y="2560320"/>
            <a:ext cx="274320" cy="27432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2011680" cy="2743200"/>
          </a:xfrm>
          <a:prstGeom prst="roundRect">
            <a:avLst/>
          </a:prstGeom>
          <a:solidFill>
            <a:srgbClr val="AADC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Flow编排层</a:t>
            </a:r>
          </a:p>
          <a:p>
            <a:pPr algn="ctr">
              <a:defRPr sz="1100">
                <a:solidFill>
                  <a:srgbClr val="333333"/>
                </a:solidFill>
              </a:defRPr>
            </a:pPr>
            <a:r>
              <a:t>LangGraph</a:t>
            </a:r>
            <a:br/>
            <a:r>
              <a:t>辩论协调器</a:t>
            </a:r>
            <a:br/>
            <a:r>
              <a:t>上下文管理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458200" y="2560320"/>
            <a:ext cx="274320" cy="27432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0" y="1463040"/>
            <a:ext cx="2926080" cy="2743200"/>
          </a:xfrm>
          <a:prstGeom prst="roundRect">
            <a:avLst/>
          </a:prstGeom>
          <a:solidFill>
            <a:srgbClr val="8CD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多Agent协作层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LogAgent | DomainAgent</a:t>
            </a:r>
            <a:br/>
            <a:r>
              <a:t>CodeAgent | CriticAgent</a:t>
            </a:r>
            <a:br/>
            <a:r>
              <a:t>RebuttalAgent | JudgeAgent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4389120"/>
            <a:ext cx="2011680" cy="1371600"/>
          </a:xfrm>
          <a:prstGeom prst="roundRect">
            <a:avLst/>
          </a:prstGeom>
          <a:solidFill>
            <a:srgbClr val="FFE6C8"/>
          </a:solidFill>
          <a:ln>
            <a:solidFill>
              <a:srgbClr val="C8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LLM服务</a:t>
            </a:r>
          </a:p>
          <a:p>
            <a:pPr algn="ctr">
              <a:defRPr sz="1100">
                <a:solidFill>
                  <a:srgbClr val="333333"/>
                </a:solidFill>
              </a:defRPr>
            </a:pPr>
            <a:r>
              <a:t>glm-5</a:t>
            </a:r>
            <a:br/>
            <a:r>
              <a:t>OpenAI兼容网关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149840" y="4251960"/>
            <a:ext cx="228600" cy="228600"/>
          </a:xfrm>
          <a:prstGeom prst="downArrow">
            <a:avLst/>
          </a:prstGeom>
          <a:solidFill>
            <a:srgbClr val="C8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" y="4754880"/>
            <a:ext cx="5029200" cy="1645920"/>
          </a:xfrm>
          <a:prstGeom prst="roundRect">
            <a:avLst/>
          </a:prstGeom>
          <a:solidFill>
            <a:srgbClr val="E6FFE6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工具层</a:t>
            </a:r>
          </a:p>
          <a:p>
            <a:pPr algn="ctr">
              <a:defRPr sz="1200">
                <a:solidFill>
                  <a:srgbClr val="333333"/>
                </a:solidFill>
              </a:defRPr>
            </a:pPr>
            <a:r>
              <a:t>日志解析器 | Git工具 | DDD分析器 | 案例库检索 | 资产融合服务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4754880"/>
            <a:ext cx="6217920" cy="1645920"/>
          </a:xfrm>
          <a:prstGeom prst="roundRect">
            <a:avLst/>
          </a:prstGeom>
          <a:solidFill>
            <a:srgbClr val="F0F0FF"/>
          </a:solidFill>
          <a:ln>
            <a:solidFill>
              <a:srgbClr val="64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存储层</a:t>
            </a:r>
          </a:p>
          <a:p>
            <a:pPr algn="ctr">
              <a:defRPr sz="1200">
                <a:solidFill>
                  <a:srgbClr val="333333"/>
                </a:solidFill>
              </a:defRPr>
            </a:pPr>
            <a:r>
              <a:t>PostgreSQL | Redis | Neo4j图数据库 | 本地文件存储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系统架构层次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822960"/>
          </a:xfrm>
          <a:prstGeom prst="roundRect">
            <a:avLst/>
          </a:prstGeom>
          <a:solidFill>
            <a:srgbClr val="E6F7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交互与接口层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Web UI / REST API / CLI 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651760"/>
            <a:ext cx="9448495" cy="822960"/>
          </a:xfrm>
          <a:prstGeom prst="roundRect">
            <a:avLst/>
          </a:prstGeom>
          <a:solidFill>
            <a:srgbClr val="C8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Flow 编排层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SRE Debate Flow (AutoGen/LangGraph)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9448495" cy="822960"/>
          </a:xfrm>
          <a:prstGeom prst="roundRect">
            <a:avLst/>
          </a:prstGeom>
          <a:solidFill>
            <a:srgbClr val="AADC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多模型专家协作层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LogAgent | DomainAgent | CodeAgent | CriticAgent | RebuttalAgent | JudgeAgent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663440"/>
            <a:ext cx="9448495" cy="822960"/>
          </a:xfrm>
          <a:prstGeom prst="roundRect">
            <a:avLst/>
          </a:prstGeom>
          <a:solidFill>
            <a:srgbClr val="8CD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工具层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日志解析器 | Git工具 | DDD分析工具 | 案例库检索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669280"/>
            <a:ext cx="9448495" cy="822960"/>
          </a:xfrm>
          <a:prstGeom prst="roundRect">
            <a:avLst/>
          </a:prstGeom>
          <a:solidFill>
            <a:srgbClr val="6EC3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资产与存储层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运行态资产 | 开发态资产 | 设计态资产 | 案例库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系统运行示例：订单服务故障分析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1612880" cy="1097280"/>
          </a:xfrm>
          <a:prstGeom prst="roundRect">
            <a:avLst/>
          </a:prstGeom>
          <a:solidFill>
            <a:srgbClr val="FFF5E6"/>
          </a:solidFill>
          <a:ln>
            <a:solidFill>
              <a:srgbClr val="C8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96641E"/>
                </a:solidFill>
              </a:defRPr>
            </a:pPr>
            <a:r>
              <a:t>故障场景：用户反馈下单失败，日志显示 NullPointerException，涉及订单服务和库存服务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651760"/>
            <a:ext cx="2651760" cy="1463040"/>
          </a:xfrm>
          <a:prstGeom prst="roundRect">
            <a:avLst/>
          </a:prstGeom>
          <a:solidFill>
            <a:srgbClr val="E6F7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Step 1</a:t>
            </a:r>
          </a:p>
          <a:p>
            <a:pPr algn="ctr">
              <a:defRPr sz="1800" b="1">
                <a:solidFill>
                  <a:srgbClr val="003366"/>
                </a:solidFill>
              </a:defRPr>
            </a:pPr>
            <a:r>
              <a:t>用户输入</a:t>
            </a:r>
          </a:p>
          <a:p>
            <a:pPr algn="ctr">
              <a:defRPr sz="1200">
                <a:solidFill>
                  <a:srgbClr val="333333"/>
                </a:solidFill>
              </a:defRPr>
            </a:pPr>
            <a:r>
              <a:t>提交故障日志</a:t>
            </a:r>
            <a:br/>
            <a:r>
              <a:t>描述故障现象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63240" y="3200400"/>
            <a:ext cx="228600" cy="36576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2651760"/>
            <a:ext cx="2651760" cy="1463040"/>
          </a:xfrm>
          <a:prstGeom prst="roundRect">
            <a:avLst/>
          </a:prstGeom>
          <a:solidFill>
            <a:srgbClr val="C8EB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Step 2</a:t>
            </a:r>
          </a:p>
          <a:p>
            <a:pPr algn="ctr">
              <a:defRPr sz="1800" b="1">
                <a:solidFill>
                  <a:srgbClr val="003366"/>
                </a:solidFill>
              </a:defRPr>
            </a:pPr>
            <a:r>
              <a:t>资产采集</a:t>
            </a:r>
          </a:p>
          <a:p>
            <a:pPr algn="ctr">
              <a:defRPr sz="1200">
                <a:solidFill>
                  <a:srgbClr val="333333"/>
                </a:solidFill>
              </a:defRPr>
            </a:pPr>
            <a:r>
              <a:t>自动收集相关日志</a:t>
            </a:r>
            <a:br/>
            <a:r>
              <a:t>代码库、设计文档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9320" y="3200400"/>
            <a:ext cx="228600" cy="36576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651760"/>
            <a:ext cx="2651760" cy="1463040"/>
          </a:xfrm>
          <a:prstGeom prst="roundRect">
            <a:avLst/>
          </a:prstGeom>
          <a:solidFill>
            <a:srgbClr val="AADC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Step 3</a:t>
            </a:r>
          </a:p>
          <a:p>
            <a:pPr algn="ctr">
              <a:defRPr sz="1800" b="1">
                <a:solidFill>
                  <a:srgbClr val="003366"/>
                </a:solidFill>
              </a:defRPr>
            </a:pPr>
            <a:r>
              <a:t>Agent辩论</a:t>
            </a:r>
          </a:p>
          <a:p>
            <a:pPr algn="ctr">
              <a:defRPr sz="1200">
                <a:solidFill>
                  <a:srgbClr val="333333"/>
                </a:solidFill>
              </a:defRPr>
            </a:pPr>
            <a:r>
              <a:t>多Agent协作分析</a:t>
            </a:r>
            <a:br/>
            <a:r>
              <a:t>质疑-反驳-裁决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15400" y="3200400"/>
            <a:ext cx="228600" cy="36576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0" y="2651760"/>
            <a:ext cx="2651760" cy="1463040"/>
          </a:xfrm>
          <a:prstGeom prst="roundRect">
            <a:avLst/>
          </a:prstGeom>
          <a:solidFill>
            <a:srgbClr val="8CD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Step 4</a:t>
            </a:r>
          </a:p>
          <a:p>
            <a:pPr algn="ctr">
              <a:defRPr sz="1800" b="1">
                <a:solidFill>
                  <a:srgbClr val="003366"/>
                </a:solidFill>
              </a:defRPr>
            </a:pPr>
            <a:r>
              <a:t>生成报告</a:t>
            </a:r>
          </a:p>
          <a:p>
            <a:pPr algn="ctr">
              <a:defRPr sz="1200">
                <a:solidFill>
                  <a:srgbClr val="333333"/>
                </a:solidFill>
              </a:defRPr>
            </a:pPr>
            <a:r>
              <a:t>根因分析+修复建议</a:t>
            </a:r>
            <a:br/>
            <a:r>
              <a:t>影响范围评估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297680"/>
            <a:ext cx="5669280" cy="2286000"/>
          </a:xfrm>
          <a:prstGeom prst="roundRect">
            <a:avLst/>
          </a:prstGeom>
          <a:solidFill>
            <a:srgbClr val="F5FA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Agent辩论过程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LogAgent: 识别NullPointerException，定位到OrderService.createOrder方法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DomainAgent: 映射到【订单域-订单聚合根】，影响库存服务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CodeAgent: 根因假设：库存扣减返回null未校验，置信度85%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CriticAgent: 质疑：未考虑并发场景，DDD边界可能误判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RebuttalAgent: 补充证据：日志显示单线程场景，边界判断正确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JudgeAgent: 最终裁决：确认根因，建议添加空值校验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297680"/>
            <a:ext cx="5669280" cy="228600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29632"/>
                </a:solidFill>
              </a:defRPr>
            </a:pPr>
            <a:r>
              <a:t>分析报告输出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✓ 根因：InventoryService.deduct() 返回null未校验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✓ 证据链：日志 → 代码 → 设计文档完整追溯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✓ 影响范围：订单服务、库存服务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✓ 修复建议：添加Optional处理或空值校验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✓ 置信度：92%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✓ 相似案例：INC-2024-0125（相似度89%）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AI专家委员会分工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1463040"/>
          </a:xfrm>
          <a:prstGeom prst="roundRect">
            <a:avLst/>
          </a:prstGeom>
          <a:solidFill>
            <a:srgbClr val="F5FA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LogAgent</a:t>
            </a:r>
          </a:p>
          <a:p>
            <a:pPr>
              <a:defRPr sz="1600" b="1">
                <a:solidFill>
                  <a:srgbClr val="336699"/>
                </a:solidFill>
              </a:defRPr>
            </a:pPr>
            <a:r>
              <a:t>日志分析专家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解析运行态日志，提取异常栈、URL、类路径等关键信息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486400" cy="1463040"/>
          </a:xfrm>
          <a:prstGeom prst="roundRect">
            <a:avLst/>
          </a:prstGeom>
          <a:solidFill>
            <a:srgbClr val="F5FA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DomainAgent</a:t>
            </a:r>
          </a:p>
          <a:p>
            <a:pPr>
              <a:defRPr sz="1600" b="1">
                <a:solidFill>
                  <a:srgbClr val="336699"/>
                </a:solidFill>
              </a:defRPr>
            </a:pPr>
            <a:r>
              <a:t>领域映射专家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将异常映射到领域模型，识别聚合根和限界上下文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486400" cy="1463040"/>
          </a:xfrm>
          <a:prstGeom prst="roundRect">
            <a:avLst/>
          </a:prstGeom>
          <a:solidFill>
            <a:srgbClr val="F5FA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CodeAgent</a:t>
            </a:r>
          </a:p>
          <a:p>
            <a:pPr>
              <a:defRPr sz="1600" b="1">
                <a:solidFill>
                  <a:srgbClr val="336699"/>
                </a:solidFill>
              </a:defRPr>
            </a:pPr>
            <a:r>
              <a:t>代码分析专家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分析代码层面根因，构建证据链，提出修复建议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200400"/>
            <a:ext cx="5486400" cy="1463040"/>
          </a:xfrm>
          <a:prstGeom prst="roundRect">
            <a:avLst/>
          </a:prstGeom>
          <a:solidFill>
            <a:srgbClr val="F5FA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CriticAgent</a:t>
            </a:r>
          </a:p>
          <a:p>
            <a:pPr>
              <a:defRPr sz="1600" b="1">
                <a:solidFill>
                  <a:srgbClr val="336699"/>
                </a:solidFill>
              </a:defRPr>
            </a:pPr>
            <a:r>
              <a:t>架构质疑专家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检查DDD原则违反，提出质疑意见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937760"/>
            <a:ext cx="5486400" cy="1463040"/>
          </a:xfrm>
          <a:prstGeom prst="roundRect">
            <a:avLst/>
          </a:prstGeom>
          <a:solidFill>
            <a:srgbClr val="F5FA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RebuttalAgent</a:t>
            </a:r>
          </a:p>
          <a:p>
            <a:pPr>
              <a:defRPr sz="1600" b="1">
                <a:solidFill>
                  <a:srgbClr val="336699"/>
                </a:solidFill>
              </a:defRPr>
            </a:pPr>
            <a:r>
              <a:t>技术反驳专家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回应质疑，修正分析结论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937760"/>
            <a:ext cx="5486400" cy="1463040"/>
          </a:xfrm>
          <a:prstGeom prst="roundRect">
            <a:avLst/>
          </a:prstGeom>
          <a:solidFill>
            <a:srgbClr val="F5FA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JudgeAgent</a:t>
            </a:r>
          </a:p>
          <a:p>
            <a:pPr>
              <a:defRPr sz="1600" b="1">
                <a:solidFill>
                  <a:srgbClr val="336699"/>
                </a:solidFill>
              </a:defRPr>
            </a:pPr>
            <a:r>
              <a:t>技术委员会主席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综合辩论过程，给出最终裁决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四阶段辩论流程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651760" cy="3200400"/>
          </a:xfrm>
          <a:prstGeom prst="roundRect">
            <a:avLst/>
          </a:prstGeom>
          <a:solidFill>
            <a:srgbClr val="C8E6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第一阶段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003366"/>
                </a:solidFill>
              </a:defRPr>
            </a:pPr>
            <a:r>
              <a:t>独立分析</a:t>
            </a:r>
          </a:p>
          <a:p>
            <a:pPr algn="ctr">
              <a:spcBef>
                <a:spcPts val="1200"/>
              </a:spcBef>
              <a:defRPr sz="1800" b="1">
                <a:solidFill>
                  <a:srgbClr val="0066CC"/>
                </a:solidFill>
              </a:defRPr>
            </a:pPr>
            <a:r>
              <a:t>CodeAgent</a:t>
            </a:r>
          </a:p>
          <a:p>
            <a:pPr algn="ctr"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提出根因假设</a:t>
            </a:r>
            <a:br/>
            <a:r>
              <a:t>构建证据链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54680" y="3200400"/>
            <a:ext cx="228600" cy="45720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828800"/>
            <a:ext cx="2651760" cy="3200400"/>
          </a:xfrm>
          <a:prstGeom prst="roundRect">
            <a:avLst/>
          </a:prstGeom>
          <a:solidFill>
            <a:srgbClr val="FFE6C8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第二阶段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003366"/>
                </a:solidFill>
              </a:defRPr>
            </a:pPr>
            <a:r>
              <a:t>交叉质疑</a:t>
            </a:r>
          </a:p>
          <a:p>
            <a:pPr algn="ctr">
              <a:spcBef>
                <a:spcPts val="1200"/>
              </a:spcBef>
              <a:defRPr sz="1800" b="1">
                <a:solidFill>
                  <a:srgbClr val="0066CC"/>
                </a:solidFill>
              </a:defRPr>
            </a:pPr>
            <a:r>
              <a:t>CriticAgent</a:t>
            </a:r>
          </a:p>
          <a:p>
            <a:pPr algn="ctr"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检查DDD违反</a:t>
            </a:r>
            <a:br/>
            <a:r>
              <a:t>提出质疑意见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89320" y="3200400"/>
            <a:ext cx="228600" cy="45720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651760" cy="3200400"/>
          </a:xfrm>
          <a:prstGeom prst="roundRect">
            <a:avLst/>
          </a:prstGeom>
          <a:solidFill>
            <a:srgbClr val="C8FFC8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第三阶段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003366"/>
                </a:solidFill>
              </a:defRPr>
            </a:pPr>
            <a:r>
              <a:t>反驳修正</a:t>
            </a:r>
          </a:p>
          <a:p>
            <a:pPr algn="ctr">
              <a:spcBef>
                <a:spcPts val="1200"/>
              </a:spcBef>
              <a:defRPr sz="1800" b="1">
                <a:solidFill>
                  <a:srgbClr val="0066CC"/>
                </a:solidFill>
              </a:defRPr>
            </a:pPr>
            <a:r>
              <a:t>RebuttalAgent</a:t>
            </a:r>
          </a:p>
          <a:p>
            <a:pPr algn="ctr"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回应质疑修正</a:t>
            </a:r>
            <a:br/>
            <a:r>
              <a:t>补充证据支持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823960" y="3200400"/>
            <a:ext cx="228600" cy="45720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651760" cy="3200400"/>
          </a:xfrm>
          <a:prstGeom prst="roundRect">
            <a:avLst/>
          </a:prstGeom>
          <a:solidFill>
            <a:srgbClr val="E6C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第四阶段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003366"/>
                </a:solidFill>
              </a:defRPr>
            </a:pPr>
            <a:r>
              <a:t>最终裁决</a:t>
            </a:r>
          </a:p>
          <a:p>
            <a:pPr algn="ctr">
              <a:spcBef>
                <a:spcPts val="1200"/>
              </a:spcBef>
              <a:defRPr sz="1800" b="1">
                <a:solidFill>
                  <a:srgbClr val="0066CC"/>
                </a:solidFill>
              </a:defRPr>
            </a:pPr>
            <a:r>
              <a:t>JudgeAgent</a:t>
            </a:r>
          </a:p>
          <a:p>
            <a:pPr algn="ctr"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综合裁决结论</a:t>
            </a:r>
            <a:br/>
            <a:r>
              <a:t>生成最终报告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36699"/>
                </a:solidFill>
              </a:defRPr>
            </a:pPr>
            <a:r>
              <a:t>辩论优势：避免单一偏见 | 提升结论可信度 | 可解释性强 | 完整辩论过程可追溯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三态资产融合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2743200"/>
          </a:xfrm>
          <a:prstGeom prst="roundRect">
            <a:avLst/>
          </a:prstGeom>
          <a:solidFill>
            <a:srgbClr val="FFE6E6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运行态资产</a:t>
            </a:r>
          </a:p>
          <a:p>
            <a:pPr algn="ctr">
              <a:spcBef>
                <a:spcPts val="1200"/>
              </a:spcBef>
              <a:defRPr sz="1600">
                <a:solidFill>
                  <a:srgbClr val="336699"/>
                </a:solidFill>
              </a:defRPr>
            </a:pPr>
            <a:r>
              <a:t>来源: 生产环境</a:t>
            </a:r>
          </a:p>
          <a:p>
            <a:pPr algn="ctr">
              <a:spcBef>
                <a:spcPts val="1600"/>
              </a:spcBef>
              <a:defRPr sz="1400">
                <a:solidFill>
                  <a:srgbClr val="333333"/>
                </a:solidFill>
              </a:defRPr>
            </a:pPr>
            <a:r>
              <a:t>应用日志 | JVM监控 | Trace信息 | 慢SQL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828800"/>
            <a:ext cx="3474720" cy="2743200"/>
          </a:xfrm>
          <a:prstGeom prst="roundRect">
            <a:avLst/>
          </a:prstGeom>
          <a:solidFill>
            <a:srgbClr val="E6FFE6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开发态资产</a:t>
            </a:r>
          </a:p>
          <a:p>
            <a:pPr algn="ctr">
              <a:spcBef>
                <a:spcPts val="1200"/>
              </a:spcBef>
              <a:defRPr sz="1600">
                <a:solidFill>
                  <a:srgbClr val="336699"/>
                </a:solidFill>
              </a:defRPr>
            </a:pPr>
            <a:r>
              <a:t>来源: 代码仓库</a:t>
            </a:r>
          </a:p>
          <a:p>
            <a:pPr algn="ctr">
              <a:spcBef>
                <a:spcPts val="1600"/>
              </a:spcBef>
              <a:defRPr sz="1400">
                <a:solidFill>
                  <a:srgbClr val="333333"/>
                </a:solidFill>
              </a:defRPr>
            </a:pPr>
            <a:r>
              <a:t>Git仓库 | 聚合根 | Controller | Repository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474720" cy="2743200"/>
          </a:xfrm>
          <a:prstGeom prst="roundRect">
            <a:avLst/>
          </a:prstGeom>
          <a:solidFill>
            <a:srgbClr val="E6E6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设计态资产</a:t>
            </a:r>
          </a:p>
          <a:p>
            <a:pPr algn="ctr">
              <a:spcBef>
                <a:spcPts val="1200"/>
              </a:spcBef>
              <a:defRPr sz="1600">
                <a:solidFill>
                  <a:srgbClr val="336699"/>
                </a:solidFill>
              </a:defRPr>
            </a:pPr>
            <a:r>
              <a:t>来源: 设计文档</a:t>
            </a:r>
          </a:p>
          <a:p>
            <a:pPr algn="ctr">
              <a:spcBef>
                <a:spcPts val="1600"/>
              </a:spcBef>
              <a:defRPr sz="1400">
                <a:solidFill>
                  <a:srgbClr val="333333"/>
                </a:solidFill>
              </a:defRPr>
            </a:pPr>
            <a:r>
              <a:t>领域模型 | 接口设计 | 数据库设计 | 历史案例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66CC"/>
                </a:solidFill>
              </a:defRPr>
            </a:pPr>
            <a:r>
              <a:t>融合价值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✓ 跨态关联 - 从日志异常追溯到代码实现再到设计方案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✓ 全景视角 - 打破信息孤岛，构建完整知识图谱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✓ 精准定位 - 结合多态信息，提升根因分析准确性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技术选型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后端技术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Python 3.11+ / FastAPI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AutoGen Runtime / LangGraph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PostgreSQL + Neo4j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Redis + Celery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前端技术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React 18 + TypeScript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Ant Design 5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Vite 构建工具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Zustand 状态管理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AI模型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主力模型: glm-5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模型服务: OpenAI兼容网关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多Agent编排框架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技术亮点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★ 微服务架构 - 前后端分离，支持水平扩展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★ 图数据库 - Neo4j存储资产关联关系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★ 实时通信 - WebSocket支持实时辩论流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★ 容器化部署 - Docker支持，K8s就绪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已实现能力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核心功能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Incident 全流程（创建 → 会话 → 辩论 → 报告）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WebSocket 实时辩论流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资产融合查询 API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历史记录与资产图谱页面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可选鉴权（JWT/RBAC）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限流、熔断、指标监控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部署能力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一键启动脚本（前后端并行启动）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Docker 容器化部署支持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完善的API文档（Swagger/ReDoc）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✓ 指标监控端点 (/metrics)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5720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6699"/>
                </a:solidFill>
              </a:defRPr>
            </a:pPr>
            <a:r>
              <a:t>API文档地址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Swagger: http://localhost:8000/docs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ReDoc: http://localhost:8000/redoc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未来规划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短期目标</a:t>
            </a:r>
          </a:p>
          <a:p>
            <a:pPr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○ 数据库持久化完善</a:t>
            </a:r>
          </a:p>
          <a:p>
            <a:pPr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○ WebSocket实时通信优化</a:t>
            </a:r>
          </a:p>
          <a:p>
            <a:pPr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○ 案例库深度集成</a:t>
            </a:r>
          </a:p>
          <a:p>
            <a:pPr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○ 测试覆盖率提升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中长期目标</a:t>
            </a:r>
          </a:p>
          <a:p>
            <a:pPr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○ 生产环境部署</a:t>
            </a:r>
          </a:p>
          <a:p>
            <a:pPr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○ 多模型路由支持</a:t>
            </a:r>
          </a:p>
          <a:p>
            <a:pPr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○ 自动修复能力（PR生成）</a:t>
            </a:r>
          </a:p>
          <a:p>
            <a:pPr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○ 灰度发布建议</a:t>
            </a:r>
          </a:p>
          <a:p>
            <a:pPr>
              <a:spcBef>
                <a:spcPts val="1400"/>
              </a:spcBef>
              <a:defRPr sz="1800">
                <a:solidFill>
                  <a:srgbClr val="333333"/>
                </a:solidFill>
              </a:defRPr>
            </a:pPr>
            <a:r>
              <a:t>○ 知识图谱可视化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项目价值总结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3657600"/>
          </a:xfrm>
          <a:prstGeom prst="roundRect">
            <a:avLst/>
          </a:prstGeom>
          <a:solidFill>
            <a:srgbClr val="FFF0F0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83232"/>
                </a:solidFill>
              </a:defRPr>
            </a:pPr>
            <a:r>
              <a:t>传统故障分析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✗ 依赖专家经验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✗ 单一视角分析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✗ 知识难以沉淀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✗ 分析周期长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✗ 结论难追溯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303520" cy="3657600"/>
          </a:xfrm>
          <a:prstGeom prst="roundRect">
            <a:avLst/>
          </a:prstGeom>
          <a:solidFill>
            <a:srgbClr val="F0FFF0"/>
          </a:solidFill>
          <a:ln>
            <a:solidFill>
              <a:srgbClr val="64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29632"/>
                </a:solidFill>
              </a:defRPr>
            </a:pPr>
            <a:r>
              <a:t>AI辩论式故障分析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✓ AI辅助决策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✓ 多角色协作辩论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✓ 案例库持续积累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✓ 自动化快速定位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✓ 证据链完整可解释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核心竞争力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创新性：业界首创AI辩论式故障分析机制  |  实用性：覆盖故障分析全流程  |  扩展性：模块化设计，易于扩展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336699"/>
                </a:solidFill>
              </a:defRPr>
            </a:pPr>
            <a:r>
              <a:t>项目仓库</a:t>
            </a:r>
          </a:p>
          <a:p>
            <a:pPr algn="ctr">
              <a:spcBef>
                <a:spcPts val="800"/>
              </a:spcBef>
              <a:defRPr sz="1800">
                <a:solidFill>
                  <a:srgbClr val="0066CC"/>
                </a:solidFill>
              </a:defRPr>
            </a:pPr>
            <a:r>
              <a:t>github.com/neochen1991/multi-agent-cli</a:t>
            </a:r>
          </a:p>
          <a:p>
            <a:pPr algn="ctr">
              <a:spcBef>
                <a:spcPts val="1600"/>
              </a:spcBef>
              <a:defRPr sz="1600">
                <a:solidFill>
                  <a:srgbClr val="333333"/>
                </a:solidFill>
              </a:defRPr>
            </a:pPr>
            <a:r>
              <a:t>技术文档: plans/sre-debate-platform-architecture.md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