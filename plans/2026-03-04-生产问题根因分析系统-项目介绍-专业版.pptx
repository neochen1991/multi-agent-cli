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生产问题根因分析系统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ADEFA"/>
                </a:solidFill>
              </a:defRPr>
            </a:pPr>
            <a:r>
              <a:t>LangGraph Multi-Agent RCA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94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659AD"/>
                </a:solidFill>
              </a:defRPr>
            </a:pPr>
            <a:r>
              <a:t>汇报目标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8463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• 说明当前系统已实现能力与核心价值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展示多 Agent 架构、关键链路与可观测机制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说明前端交互、工具调用、报告输出闭环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给出下一阶段优化路线图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011680"/>
            <a:ext cx="5029200" cy="356616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3317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659AD"/>
                </a:solidFill>
              </a:defRPr>
            </a:pPr>
            <a:r>
              <a:t>技术基线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788920"/>
            <a:ext cx="4480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• Backend: FastAPI + LangGraph + LangChain OpenAI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Frontend: React 18 + TypeScript + Ant Design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Model: kimi-k2.5 (OpenAI-compatible API)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Storage: local file / memory (no external 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D81"/>
                </a:solidFill>
              </a:defRPr>
            </a:pPr>
            <a:r>
              <a:t>生成时间：2026-03-04 14:25:37（Asia/Shanghai）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E1F5"/>
                </a:solidFill>
              </a:defRPr>
            </a:pPr>
            <a:r>
              <a:t>Presentation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737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CCFEE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234440"/>
            <a:ext cx="498348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4356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1. 业务目标与痛点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03704"/>
            <a:ext cx="498348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048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2. 系统总体架构图（端到端）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172968"/>
            <a:ext cx="498348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37413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3. LangGraph 运行时架构图（后端内部）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142232"/>
            <a:ext cx="498348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3434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4. 多 Agent 协作网络图与角色分工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111496"/>
            <a:ext cx="498348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531266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5. 工具调用与审计链路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234440"/>
            <a:ext cx="498348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4356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6. 核心流程图（输入 -&gt; 结论 -&gt; 报告）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203704"/>
            <a:ext cx="498348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4048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7. 数据与状态机设计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172968"/>
            <a:ext cx="498348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37413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8. 前端交互与用户体验设计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142232"/>
            <a:ext cx="498348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43434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9. 质量保障与可观测体系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5111496"/>
            <a:ext cx="498348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531266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10. 改进路线图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1) 业务目标与定位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E1F5"/>
                </a:solidFill>
              </a:defRPr>
            </a:pPr>
            <a:r>
              <a:t>Why this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737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CCFEE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97280"/>
            <a:ext cx="3749039" cy="5394960"/>
          </a:xfrm>
          <a:prstGeom prst="roundRect">
            <a:avLst/>
          </a:prstGeom>
          <a:solidFill>
            <a:srgbClr val="FFF4E8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33A3A"/>
                </a:solidFill>
              </a:defRPr>
            </a:pPr>
            <a:r>
              <a:t>生产排障现状痛点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2461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• 故障信息分散在日志、代码、监控、文档多个系统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跨团队沟通成本高，责任边界不清晰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单模型结论可解释性不足，复盘困难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缺少可审计、可回放的分析过程记录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高峰期容易出现分析任务积压与 pending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097280"/>
            <a:ext cx="704088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353312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659AD"/>
                </a:solidFill>
              </a:defRPr>
            </a:pPr>
            <a:r>
              <a:t>平台目标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783080"/>
            <a:ext cx="6309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• 主 Agent 指挥专家 Agent 协同分析，形成可辩论、可收敛的结论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统一接入责任田映射、日志检索、代码检索、监控/CMDB 数据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前端实时展示：资产映射、辩论过程、辩论结果、报告与回放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840480"/>
            <a:ext cx="7040880" cy="265176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4096512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659AD"/>
                </a:solidFill>
              </a:defRPr>
            </a:pPr>
            <a:r>
              <a:t>价值输出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526280"/>
            <a:ext cx="6309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• MTTR 缩短：降低人工排查时间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结论质量提升：Top-K 根因 + 证据链 + 置信度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组织协同提效：责任田自动定位 + 标准化报告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治理闭环：Benchmark 与审计指标可持续优化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2) 系统总体架构图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E1F5"/>
                </a:solidFill>
              </a:defRPr>
            </a:pPr>
            <a:r>
              <a:t>End-to-end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737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CCFEE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828800" cy="868680"/>
          </a:xfrm>
          <a:prstGeom prst="roundRect">
            <a:avLst/>
          </a:prstGeom>
          <a:solidFill>
            <a:srgbClr val="FFF4E8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40817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用户/值班 SRE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31720" y="1389888"/>
            <a:ext cx="320040" cy="22860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097280"/>
            <a:ext cx="2240280" cy="86868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35331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Frontend</a:t>
            </a:r>
            <a:br/>
            <a:r>
              <a:t>React + AntD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83480" y="1389888"/>
            <a:ext cx="320040" cy="22860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49240" y="1097280"/>
            <a:ext cx="2057400" cy="86868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2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Backend API</a:t>
            </a:r>
            <a:br/>
            <a:r>
              <a:t>FastAPI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452360" y="1389888"/>
            <a:ext cx="320040" cy="22860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18120" y="1097280"/>
            <a:ext cx="3886200" cy="868680"/>
          </a:xfrm>
          <a:prstGeom prst="roundRect">
            <a:avLst/>
          </a:prstGeom>
          <a:solidFill>
            <a:srgbClr val="F1EE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37160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LangGraph Runtime Orchestrator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24028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4323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659AD"/>
                </a:solidFill>
              </a:defRPr>
            </a:pPr>
            <a:r>
              <a:t>Agent 协作层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697480"/>
            <a:ext cx="3520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主 Agent: ProblemAnalysisAgent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专家 Agent: Log/Domain/Code/Metrics/Change/Runbook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对抗 Agent: Critic/Rebuttal/Judge/Verification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240280"/>
            <a:ext cx="7269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2432304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659AD"/>
                </a:solidFill>
              </a:defRPr>
            </a:pPr>
            <a:r>
              <a:t>交互与数据通道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697480"/>
            <a:ext cx="6675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WebSocket 实时事件流：phase_changed / agent_chat / tool_io / session_status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REST API：incident/debate/assets/reports/settings/benchmark/governance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报告与谱系回放：lineage + report versions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43400"/>
            <a:ext cx="3749039" cy="182880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59028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659AD"/>
                </a:solidFill>
              </a:defRPr>
            </a:pPr>
            <a:r>
              <a:t>工具与外部连接器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28032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Git Repo Search（CodeAgent）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Local Log Reader（LogAgent）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Domain Excel/CSV（DomainAgent）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Telemetry/CMDB Connector（可配置）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343400"/>
            <a:ext cx="3566160" cy="182880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45902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659AD"/>
                </a:solidFill>
              </a:defRPr>
            </a:pPr>
            <a:r>
              <a:t>存储层（本地优先）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828032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Session / Rounds / Results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Lineage / Tool Audit / Replay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Report(JSON/Markdown/HTML)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file 或 memory backend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4343400"/>
            <a:ext cx="3520440" cy="1828800"/>
          </a:xfrm>
          <a:prstGeom prst="roundRect">
            <a:avLst/>
          </a:prstGeom>
          <a:solidFill>
            <a:srgbClr val="F1EE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590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659AD"/>
                </a:solidFill>
              </a:defRPr>
            </a:pPr>
            <a:r>
              <a:t>运维治理层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828032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Benchmark Center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Governance Center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Tool Registry / Trial / Audit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WorkLog + Replay +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3) LangGraph 运行时架构图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E1F5"/>
                </a:solidFill>
              </a:defRPr>
            </a:pPr>
            <a:r>
              <a:t>Backend Internal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737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CCFEE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331720"/>
            <a:ext cx="3291840" cy="1051560"/>
          </a:xfrm>
          <a:prstGeom prst="roundRect">
            <a:avLst/>
          </a:prstGeom>
          <a:solidFill>
            <a:srgbClr val="F1EE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61518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LangGraphRuntimeOrchestrator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143000"/>
            <a:ext cx="2834640" cy="109728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GraphBuilder</a:t>
            </a:r>
            <a:br/>
            <a:r>
              <a:t>(builder.py)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88920"/>
            <a:ext cx="2834640" cy="109728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0906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RoutingStrategy</a:t>
            </a:r>
            <a:br/>
            <a:r>
              <a:t>(routing/*.py)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434840"/>
            <a:ext cx="2834640" cy="109728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7365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AgentRunner</a:t>
            </a:r>
            <a:br/>
            <a:r>
              <a:t>(agent_runner.py)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143000"/>
            <a:ext cx="2834640" cy="109728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EventDispatcher</a:t>
            </a:r>
            <a:br/>
            <a:r>
              <a:t>(event_dispatcher.py)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788920"/>
            <a:ext cx="2834640" cy="109728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30906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WorkLogManager</a:t>
            </a:r>
            <a:br/>
            <a:r>
              <a:t>(work_log_manager.py)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4434840"/>
            <a:ext cx="2834640" cy="109728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47365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Compaction + Prune</a:t>
            </a:r>
            <a:br/>
            <a:r>
              <a:t>(session_compaction.py)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840480" y="1600200"/>
            <a:ext cx="457200" cy="23774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3840480" y="3246120"/>
            <a:ext cx="457200" cy="23774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3840480" y="4892040"/>
            <a:ext cx="457200" cy="23774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eft Arrow 23"/>
          <p:cNvSpPr/>
          <p:nvPr/>
        </p:nvSpPr>
        <p:spPr>
          <a:xfrm>
            <a:off x="7772400" y="1600200"/>
            <a:ext cx="457200" cy="237744"/>
          </a:xfrm>
          <a:prstGeom prst="lef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eft Arrow 24"/>
          <p:cNvSpPr/>
          <p:nvPr/>
        </p:nvSpPr>
        <p:spPr>
          <a:xfrm>
            <a:off x="7772400" y="3246120"/>
            <a:ext cx="457200" cy="237744"/>
          </a:xfrm>
          <a:prstGeom prst="lef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ft Arrow 25"/>
          <p:cNvSpPr/>
          <p:nvPr/>
        </p:nvSpPr>
        <p:spPr>
          <a:xfrm>
            <a:off x="7772400" y="4892040"/>
            <a:ext cx="457200" cy="237744"/>
          </a:xfrm>
          <a:prstGeom prst="lef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897880"/>
            <a:ext cx="10789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D81"/>
                </a:solidFill>
              </a:defRPr>
            </a:pPr>
            <a:r>
              <a:t>设计目标：编排器只负责协调，执行/路由/事件/上下文管理模块化，避免“上帝类”。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4) 多 Agent 协作网络图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E1F5"/>
                </a:solidFill>
              </a:defRPr>
            </a:pPr>
            <a:r>
              <a:t>Command-driven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737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CCFEE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2331720"/>
            <a:ext cx="2560320" cy="1097280"/>
          </a:xfrm>
          <a:prstGeom prst="roundRect">
            <a:avLst/>
          </a:prstGeom>
          <a:solidFill>
            <a:srgbClr val="F1EEFF"/>
          </a:solidFill>
          <a:ln>
            <a:solidFill>
              <a:srgbClr val="465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ProblemAnalysisAgent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097280"/>
            <a:ext cx="1874519" cy="86868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47672" y="1371600"/>
            <a:ext cx="1627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LogAgent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914400"/>
            <a:ext cx="1874519" cy="86868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188720"/>
            <a:ext cx="1627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DomainAgent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097280"/>
            <a:ext cx="1874519" cy="86868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8392" y="1371600"/>
            <a:ext cx="1627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CodeAgent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651760"/>
            <a:ext cx="1874519" cy="86868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2926079"/>
            <a:ext cx="1627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MetricsAgent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4389120"/>
            <a:ext cx="1874519" cy="86868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2" y="4663440"/>
            <a:ext cx="1627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ChangeAgent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572000"/>
            <a:ext cx="1874519" cy="86868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2312" y="4846320"/>
            <a:ext cx="1627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RunbookAgent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389120"/>
            <a:ext cx="1874519" cy="868680"/>
          </a:xfrm>
          <a:prstGeom prst="roundRect">
            <a:avLst/>
          </a:prstGeom>
          <a:solidFill>
            <a:srgbClr val="FFF4E8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7672" y="4663440"/>
            <a:ext cx="1627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CriticAgent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651760"/>
            <a:ext cx="1874519" cy="868680"/>
          </a:xfrm>
          <a:prstGeom prst="roundRect">
            <a:avLst/>
          </a:prstGeom>
          <a:solidFill>
            <a:srgbClr val="FFF4E8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2926079"/>
            <a:ext cx="1627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RebuttalAgent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114800"/>
            <a:ext cx="1874519" cy="868680"/>
          </a:xfrm>
          <a:prstGeom prst="roundRect">
            <a:avLst/>
          </a:prstGeom>
          <a:solidFill>
            <a:srgbClr val="F1EE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2" y="4389120"/>
            <a:ext cx="1627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JudgeAgent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840480" y="1783080"/>
            <a:ext cx="868680" cy="182880"/>
          </a:xfrm>
          <a:prstGeom prst="rightArrow">
            <a:avLst/>
          </a:prstGeom>
          <a:solidFill>
            <a:srgbClr val="108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5989320" y="1783080"/>
            <a:ext cx="868680" cy="182880"/>
          </a:xfrm>
          <a:prstGeom prst="rightArrow">
            <a:avLst/>
          </a:prstGeom>
          <a:solidFill>
            <a:srgbClr val="108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7543800" y="2606040"/>
            <a:ext cx="868680" cy="182880"/>
          </a:xfrm>
          <a:prstGeom prst="rightArrow">
            <a:avLst/>
          </a:prstGeom>
          <a:solidFill>
            <a:srgbClr val="108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635240" y="3886200"/>
            <a:ext cx="868680" cy="182880"/>
          </a:xfrm>
          <a:prstGeom prst="rightArrow">
            <a:avLst/>
          </a:prstGeom>
          <a:solidFill>
            <a:srgbClr val="108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5989320" y="4526280"/>
            <a:ext cx="868680" cy="182880"/>
          </a:xfrm>
          <a:prstGeom prst="rightArrow">
            <a:avLst/>
          </a:prstGeom>
          <a:solidFill>
            <a:srgbClr val="108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3840480" y="4526280"/>
            <a:ext cx="868680" cy="182880"/>
          </a:xfrm>
          <a:prstGeom prst="rightArrow">
            <a:avLst/>
          </a:prstGeom>
          <a:solidFill>
            <a:srgbClr val="108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2651760" y="3886200"/>
            <a:ext cx="868680" cy="182880"/>
          </a:xfrm>
          <a:prstGeom prst="rightArrow">
            <a:avLst/>
          </a:prstGeom>
          <a:solidFill>
            <a:srgbClr val="108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2651760" y="2606040"/>
            <a:ext cx="868680" cy="182880"/>
          </a:xfrm>
          <a:prstGeom prst="rightArrow">
            <a:avLst/>
          </a:prstGeom>
          <a:solidFill>
            <a:srgbClr val="108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806440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D81"/>
                </a:solidFill>
              </a:defRPr>
            </a:pPr>
            <a:r>
              <a:t>主 Agent 先下发命令；子 Agent 依据命令调用工具并回传结构化证据；Critic/Rebuttal/Judge 完成争议收敛。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5) 工具调用与审计链路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E1F5"/>
                </a:solidFill>
              </a:defRPr>
            </a:pPr>
            <a:r>
              <a:t>Tooling &amp; Auditability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737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CCFEE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920240" cy="1234440"/>
          </a:xfrm>
          <a:prstGeom prst="roundRect">
            <a:avLst/>
          </a:prstGeom>
          <a:solidFill>
            <a:srgbClr val="F1EE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35915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主 Agent 下发命令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33472" y="2450592"/>
            <a:ext cx="256032" cy="20116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965960"/>
            <a:ext cx="1920240" cy="123444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35915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Command Gate 判定</a:t>
            </a:r>
            <a:br/>
            <a:r>
              <a:t>(allow / deny)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36592" y="2450592"/>
            <a:ext cx="256032" cy="20116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60" y="1965960"/>
            <a:ext cx="2286000" cy="123444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35915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Agent 调用工具</a:t>
            </a:r>
            <a:br/>
            <a:r>
              <a:t>Git / Log / Excel / HTTP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525512" y="2450592"/>
            <a:ext cx="256032" cy="20116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26679" y="1965960"/>
            <a:ext cx="1920240" cy="123444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235915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输出截断与摘要</a:t>
            </a:r>
            <a:br/>
            <a:r>
              <a:t>(large output handling)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720072" y="2450592"/>
            <a:ext cx="256032" cy="20116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12680" y="1965960"/>
            <a:ext cx="1920240" cy="1234440"/>
          </a:xfrm>
          <a:prstGeom prst="roundRect">
            <a:avLst/>
          </a:prstGeom>
          <a:solidFill>
            <a:srgbClr val="F1EE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19" y="2359152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写入审计与谱系</a:t>
            </a:r>
            <a:br/>
            <a:r>
              <a:t>(lineage + tool_audit)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03320"/>
            <a:ext cx="5669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31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659AD"/>
                </a:solidFill>
              </a:defRPr>
            </a:pPr>
            <a:r>
              <a:t>审计字段（前后端可见）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4340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event_type / timestamp / agent_name / phase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tool_name / action / status / error_reason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command_preview / decision_source / permission_decision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io_trace：文件读取、Git 命令、HTTP 请求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full_output_ref：完整输出引用 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703320"/>
            <a:ext cx="5029200" cy="237744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659AD"/>
                </a:solidFill>
              </a:defRPr>
            </a:pPr>
            <a:r>
              <a:t>设计原则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343400"/>
            <a:ext cx="4526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没有命令，不触发工具调用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没有工具配置，不展示工具调用消息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工具失败必须显式降级并给出 fallback 结论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所有调用可在战情页和复盘台追溯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6) 核心流程图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E1F5"/>
                </a:solidFill>
              </a:defRPr>
            </a:pPr>
            <a:r>
              <a:t>Incident -&gt; Debate -&gt;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737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CCFEE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325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8483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59AD"/>
                </a:solidFill>
              </a:defRPr>
            </a:pPr>
            <a:r>
              <a:t>1. 输入故障信息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514600"/>
            <a:ext cx="1143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日志、堆栈、监控现象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57400" y="2578608"/>
            <a:ext cx="201168" cy="164592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13432" y="1920240"/>
            <a:ext cx="1325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14016" y="208483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59AD"/>
                </a:solidFill>
              </a:defRPr>
            </a:pPr>
            <a:r>
              <a:t>2. 创建会话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2514600"/>
            <a:ext cx="1143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session + mode + strategy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85032" y="2578608"/>
            <a:ext cx="201168" cy="164592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41064" y="1920240"/>
            <a:ext cx="14630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41648" y="2084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59AD"/>
                </a:solidFill>
              </a:defRPr>
            </a:pPr>
            <a:r>
              <a:t>3. 资产映射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25146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接口 -&gt; 领域 -&gt; 聚合根 -&gt; owner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449824" y="2578608"/>
            <a:ext cx="201168" cy="164592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05856" y="1920240"/>
            <a:ext cx="14630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2084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59AD"/>
                </a:solidFill>
              </a:defRPr>
            </a:pPr>
            <a:r>
              <a:t>4. 主 Agent 分发任务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5146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command_issued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14616" y="2578608"/>
            <a:ext cx="201168" cy="164592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70648" y="1920240"/>
            <a:ext cx="14630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1" y="2084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59AD"/>
                </a:solidFill>
              </a:defRPr>
            </a:pPr>
            <a:r>
              <a:t>5. 专家 Agent 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25146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tool call + chat + evidence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79408" y="2578608"/>
            <a:ext cx="201168" cy="164592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35440" y="1920240"/>
            <a:ext cx="1325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36024" y="208483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59AD"/>
                </a:solidFill>
              </a:defRPr>
            </a:pPr>
            <a:r>
              <a:t>6. 对抗收敛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2514600"/>
            <a:ext cx="1143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critic / rebuttal / judge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607040" y="2578608"/>
            <a:ext cx="201168" cy="164592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63072" y="1920240"/>
            <a:ext cx="14630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63655" y="2084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59AD"/>
                </a:solidFill>
              </a:defRPr>
            </a:pPr>
            <a:r>
              <a:t>7. 输出结果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63655" y="25146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Top-K 根因 + 证据链 + 置信度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2371832" y="2578608"/>
            <a:ext cx="201168" cy="164592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627863" y="1920240"/>
            <a:ext cx="1325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728447" y="208483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59AD"/>
                </a:solidFill>
              </a:defRPr>
            </a:pPr>
            <a:r>
              <a:t>8. 生成报告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728447" y="2514600"/>
            <a:ext cx="1143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JSON / Markdown / HTML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069080"/>
            <a:ext cx="10972800" cy="182880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" y="432511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659AD"/>
                </a:solidFill>
              </a:defRPr>
            </a:pPr>
            <a:r>
              <a:t>异常与超时处理策略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" y="4663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分阶段超时：analysis/review/judge/report 使用不同 timeout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局部重试与降级：单 Agent 失败不应阻塞整场会话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DEBATE_REQUIRE_EFFECTIVE_LLM_CONCLUSION = true，避免空结论直出报告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状态迁移校验：pending -&gt; running -&gt; analyzing/debating -&gt; judging -&gt; completed/failed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7) 状态机与数据模型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E1F5"/>
                </a:solidFill>
              </a:defRPr>
            </a:pPr>
            <a:r>
              <a:t>State &amp; Data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737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CCFEE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669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659AD"/>
                </a:solidFill>
              </a:defRPr>
            </a:pPr>
            <a:r>
              <a:t>会话状态机（DebateStatus）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1115568" cy="566928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1828800"/>
            <a:ext cx="1115568" cy="566928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79" y="20116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RUNNING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828800"/>
            <a:ext cx="1115568" cy="566928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20116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ANALYZING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828800"/>
            <a:ext cx="1115568" cy="566928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0116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DEBATING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017520"/>
            <a:ext cx="1115568" cy="566928"/>
          </a:xfrm>
          <a:prstGeom prst="roundRect">
            <a:avLst/>
          </a:prstGeom>
          <a:solidFill>
            <a:srgbClr val="F1EE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32004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JUDGING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3017520"/>
            <a:ext cx="1115568" cy="566928"/>
          </a:xfrm>
          <a:prstGeom prst="roundRect">
            <a:avLst/>
          </a:prstGeom>
          <a:solidFill>
            <a:srgbClr val="F1EE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2004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017520"/>
            <a:ext cx="1115568" cy="566928"/>
          </a:xfrm>
          <a:prstGeom prst="roundRect">
            <a:avLst/>
          </a:prstGeom>
          <a:solidFill>
            <a:srgbClr val="FFF4E8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2004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FAILED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4114800"/>
            <a:ext cx="1115568" cy="566928"/>
          </a:xfrm>
          <a:prstGeom prst="roundRect">
            <a:avLst/>
          </a:prstGeom>
          <a:solidFill>
            <a:srgbClr val="FFF4E8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2976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RETRYING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114800"/>
            <a:ext cx="1115568" cy="566928"/>
          </a:xfrm>
          <a:prstGeom prst="roundRect">
            <a:avLst/>
          </a:prstGeom>
          <a:solidFill>
            <a:srgbClr val="FFF4E8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2976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CANCELLED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039112" y="2057400"/>
            <a:ext cx="13716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3319272" y="2057400"/>
            <a:ext cx="13716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4599432" y="2057400"/>
            <a:ext cx="13716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2514600" y="2761488"/>
            <a:ext cx="45720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4178808" y="2761488"/>
            <a:ext cx="45720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3154680" y="3840480"/>
            <a:ext cx="411480" cy="109728"/>
          </a:xfrm>
          <a:prstGeom prst="rightArrow">
            <a:avLst/>
          </a:prstGeom>
          <a:solidFill>
            <a:srgbClr val="E19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98348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D81"/>
                </a:solidFill>
              </a:defRPr>
            </a:pPr>
            <a:r>
              <a:t>说明：状态迁移受服务端白名单校验，避免非法 phase（如 coordination）导致系统卡死。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1097280"/>
            <a:ext cx="5212080" cy="544068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13533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659AD"/>
                </a:solidFill>
              </a:defRPr>
            </a:pPr>
            <a:r>
              <a:t>核心数据对象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17373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Incident：原始故障描述、日志、堆栈、监控现象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DebateSession：执行上下文、状态、模式、策略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DebateRound：每轮 Agent 输出、证据、工具调用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DebateResult：根因候选、证据链、修复建议、验证计划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LineageRecord：事件时间线、工具审计、回放关键节点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6832" y="3931920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659AD"/>
                </a:solidFill>
              </a:defRPr>
            </a:pPr>
            <a:r>
              <a:t>存储后端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42519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LOCAL_STORE_BACKEND = file | memory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LOCAL_STORE_DIR 管理会话与报告持久化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不引入外部数据库，便于本地开发与演示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8) 前端交互与用户体验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E1F5"/>
                </a:solidFill>
              </a:defRPr>
            </a:pPr>
            <a:r>
              <a:t>UX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737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CCFEE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1064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659AD"/>
                </a:solidFill>
              </a:defRPr>
            </a:pPr>
            <a:r>
              <a:t>设计原则：实时可感知、过程可追溯、结论可解释、关键操作可直达。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5440680" cy="123444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659AD"/>
                </a:solidFill>
              </a:defRPr>
            </a:pPr>
            <a:r>
              <a:t>首页 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创建并启动分析、近期任务、Agent 介绍、统计指标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40280"/>
            <a:ext cx="5440680" cy="123444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42316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659AD"/>
                </a:solidFill>
              </a:defRPr>
            </a:pPr>
            <a:r>
              <a:t>分析页 /incident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资产映射 / 辩论过程 / 辩论结果 三标签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23444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659AD"/>
                </a:solidFill>
              </a:defRPr>
            </a:pPr>
            <a:r>
              <a:t>战情页 /war-room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同屏时间线 + 工具调用 + 证据链 + 关键结论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57600"/>
            <a:ext cx="5440680" cy="123444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84048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659AD"/>
                </a:solidFill>
              </a:defRPr>
            </a:pPr>
            <a:r>
              <a:t>调查复盘台 /workbench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60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关键决策路径回放 + 报告版本差异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5440680" cy="123444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659AD"/>
                </a:solidFill>
              </a:defRPr>
            </a:pPr>
            <a:r>
              <a:t>工具中心 /tools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工具列表、详情、参数试跑、审计查询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5074920"/>
            <a:ext cx="5440680" cy="123444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525780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659AD"/>
                </a:solidFill>
              </a:defRPr>
            </a:pPr>
            <a:r>
              <a:t>治理中心 /governance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577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成功率、超时率、成本和风险动作统计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57800"/>
            <a:ext cx="11064240" cy="1234440"/>
          </a:xfrm>
          <a:prstGeom prst="roundRect">
            <a:avLst/>
          </a:prstGeom>
          <a:solidFill>
            <a:srgbClr val="F1EE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46811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659AD"/>
                </a:solidFill>
              </a:defRPr>
            </a:pPr>
            <a:r>
              <a:t>用户体验改进点（已落地）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77900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流式聊天支持“缩略 + 展开全文”，避免大段 JSON 干扰阅读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所有时间统一北京时间展示，历史/战情/首页口径一致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分析中任务可进入详情页持续追踪，避免跳转空白页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9) API 与扩展能力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E1F5"/>
                </a:solidFill>
              </a:defRPr>
            </a:pPr>
            <a:r>
              <a:t>Integration &amp; Extensibility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737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CCFEE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97280"/>
            <a:ext cx="557784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659AD"/>
                </a:solidFill>
              </a:defRPr>
            </a:pPr>
            <a:r>
              <a:t>核心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50292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POST /api/v1/incidents/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POST /api/v1/debates/?incident_id=...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POST /api/v1/debates/{session_id}/execute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GET  /api/v1/debates/{session_id}/result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POST /api/v1/reports/{incident_id}/regenerate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GET  /api/v1/settings/tooling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PUT  /api/v1/settings/tooling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WS   /ws/debates/{session_id}?auto_start=true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097280"/>
            <a:ext cx="5257800" cy="246888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2588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659AD"/>
                </a:solidFill>
              </a:defRPr>
            </a:pPr>
            <a:r>
              <a:t>模型配置（当前）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LLM_BASE_URL=https://ark.cn-beijing.volces.com/api/coding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LLM_API_KEY=********（环境变量注入）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LLM_MODEL=kimi-k2.5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LLM_MAX_CONCURRENCY / timeout 按阶段控制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794760"/>
            <a:ext cx="5257800" cy="269748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2336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659AD"/>
                </a:solidFill>
              </a:defRPr>
            </a:pPr>
            <a:r>
              <a:t>扩展入口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389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TelemetryConnector：接入日志/APM/指标平台（可开关）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CMDBConnector：接入服务拓扑/责任人系统（可开关）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Tool Registry：create/update/delete/start/offline/list/run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Skill 化 Prompt：按场景注入策略与输出格式约束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10) 质量保障与可观测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E1F5"/>
                </a:solidFill>
              </a:defRPr>
            </a:pPr>
            <a:r>
              <a:t>Reliability &amp;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737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CCFEE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97280"/>
            <a:ext cx="3657600" cy="539496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659AD"/>
                </a:solidFill>
              </a:defRPr>
            </a:pPr>
            <a:r>
              <a:t>Benchmark 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Top1 命中率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947672"/>
            <a:ext cx="2011680" cy="164592"/>
          </a:xfrm>
          <a:prstGeom prst="roundRect">
            <a:avLst/>
          </a:prstGeom>
          <a:solidFill>
            <a:srgbClr val="DF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1947672"/>
            <a:ext cx="1448409" cy="164592"/>
          </a:xfrm>
          <a:prstGeom prst="roundRect">
            <a:avLst/>
          </a:prstGeom>
          <a:solidFill>
            <a:srgbClr val="139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91109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D81"/>
                </a:solidFill>
              </a:defRPr>
            </a:pPr>
            <a: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786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Top3 命中率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606040"/>
            <a:ext cx="2011680" cy="164592"/>
          </a:xfrm>
          <a:prstGeom prst="roundRect">
            <a:avLst/>
          </a:prstGeom>
          <a:solidFill>
            <a:srgbClr val="DF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11680" y="2606040"/>
            <a:ext cx="1770278" cy="164592"/>
          </a:xfrm>
          <a:prstGeom prst="roundRect">
            <a:avLst/>
          </a:prstGeom>
          <a:solidFill>
            <a:srgbClr val="139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256946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D81"/>
                </a:solidFill>
              </a:defRPr>
            </a:pPr>
            <a:r>
              <a:t>88%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369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超时率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264408"/>
            <a:ext cx="2011680" cy="164592"/>
          </a:xfrm>
          <a:prstGeom prst="roundRect">
            <a:avLst/>
          </a:prstGeom>
          <a:solidFill>
            <a:srgbClr val="DF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11680" y="3264408"/>
            <a:ext cx="422452" cy="164592"/>
          </a:xfrm>
          <a:prstGeom prst="roundRect">
            <a:avLst/>
          </a:prstGeom>
          <a:solidFill>
            <a:srgbClr val="D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3227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D81"/>
                </a:solidFill>
              </a:defRPr>
            </a:pPr>
            <a:r>
              <a:t>21%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9534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空结论率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3922776"/>
            <a:ext cx="2011680" cy="164592"/>
          </a:xfrm>
          <a:prstGeom prst="roundRect">
            <a:avLst/>
          </a:prstGeom>
          <a:solidFill>
            <a:srgbClr val="DF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011680" y="3922776"/>
            <a:ext cx="241401" cy="164592"/>
          </a:xfrm>
          <a:prstGeom prst="roundRect">
            <a:avLst/>
          </a:prstGeom>
          <a:solidFill>
            <a:srgbClr val="E19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9080" y="38862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D81"/>
                </a:solidFill>
              </a:defRPr>
            </a:pPr>
            <a:r>
              <a:t>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029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D81"/>
                </a:solidFill>
              </a:defRPr>
            </a:pPr>
            <a:r>
              <a:t>注：以上为演示口径，真实值由 Benchmark Center 实时计算。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1097280"/>
            <a:ext cx="71323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1353312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659AD"/>
                </a:solidFill>
              </a:defRPr>
            </a:pPr>
            <a:r>
              <a:t>可观测与防卡死设计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173736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全链路时间戳与事件序号：便于定位“长时间无响应”区间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Agent 超时/失败分类：timeout, rate_limit, no_conclusion, runtime_error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局部失败可继续：保持会话推进，输出可执行 fallback 结论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日志中文可读输出 + JSON 结构日志并存，兼顾排障与机器分析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794760"/>
            <a:ext cx="7132320" cy="269748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4041648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659AD"/>
                </a:solidFill>
              </a:defRPr>
            </a:pPr>
            <a:r>
              <a:t>治理视角（Governance）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43484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团队维度：成功率、超时率、工具失败率、风险动作占比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会话维度：关键决策路径、工具调用明细、证据引用轨迹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版本维度：同 incident 多次分析结果对比与差异解释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发布维度：Benchmark Gate 可接入 CI 阻断回归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11) 改进路线图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E1F5"/>
                </a:solidFill>
              </a:defRPr>
            </a:pPr>
            <a:r>
              <a:t>P0~P3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737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CCFEE"/>
                </a:solidFill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881360" cy="960120"/>
          </a:xfrm>
          <a:prstGeom prst="roundRect">
            <a:avLst/>
          </a:prstGeom>
          <a:solidFill>
            <a:srgbClr val="FFF4E8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54533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659AD"/>
                </a:solidFill>
              </a:defRPr>
            </a:pPr>
            <a:r>
              <a:t>P0 可用性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54533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自动调查、并行拉证据、超时切换、pending 清零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881360" cy="960120"/>
          </a:xfrm>
          <a:prstGeom prst="roundRect">
            <a:avLst/>
          </a:prstGeom>
          <a:solidFill>
            <a:srgbClr val="EBF3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77977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659AD"/>
                </a:solidFill>
              </a:defRPr>
            </a:pPr>
            <a:r>
              <a:t>P1 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77977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跨源证据约束、因果推理层、Top-K 置信区间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10881360" cy="960120"/>
          </a:xfrm>
          <a:prstGeom prst="roundRect">
            <a:avLst/>
          </a:prstGeom>
          <a:solidFill>
            <a:srgbClr val="E9FAFD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1421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659AD"/>
                </a:solidFill>
              </a:defRPr>
            </a:pPr>
            <a:r>
              <a:t>P2 可控修复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01421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修复状态机、No-Regression Gate、回滚接口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881360" cy="960120"/>
          </a:xfrm>
          <a:prstGeom prst="roundRect">
            <a:avLst/>
          </a:prstGeom>
          <a:solidFill>
            <a:srgbClr val="F1EE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24865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659AD"/>
                </a:solidFill>
              </a:defRPr>
            </a:pPr>
            <a:r>
              <a:t>P3 平台治理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524865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反馈学习、A/B 评测、多租户与外部协同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881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815584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D81"/>
                </a:solidFill>
              </a:defRPr>
            </a:pPr>
            <a:r>
              <a:t>建议实施方式：按阶段验收 + Benchmark 回归门禁 + 前后端联调验收（非仅 API 测试）。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12) 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E1F5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737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CCFEE"/>
                </a:solidFill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32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4884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4659AD"/>
                </a:solidFill>
              </a:defRPr>
            </a:pPr>
            <a:r>
              <a:t>当前系统已从“单点分析”升级为“多 Agent 协作 + 工具审计 + 可回放治理”的生产故障分析平台。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80360"/>
            <a:ext cx="9326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• 架构完整：FastAPI + LangGraph + React，支持实时事件流和多会话模式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过程透明：命令驱动工具调用、可追溯审计、可复盘决策链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结果可用：Top-K 根因、证据链、修复建议、验证计划与结构化报告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可持续优化：Benchmark + Governance 双闭环，支撑持续提升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57607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D81"/>
                </a:solidFill>
              </a:defRPr>
            </a:pPr>
            <a:r>
              <a:t>下一步：继续提升真实数据接入、模型韧性与自治修复能力。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